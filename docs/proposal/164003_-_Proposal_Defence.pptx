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Heavy" charset="1" panose="00000A00000000000000"/>
      <p:regular r:id="rId20"/>
    </p:embeddedFont>
    <p:embeddedFont>
      <p:font typeface="Noto Serif" charset="1" panose="02020600060500020200"/>
      <p:regular r:id="rId21"/>
    </p:embeddedFont>
    <p:embeddedFont>
      <p:font typeface="Open Sauce" charset="1" panose="00000500000000000000"/>
      <p:regular r:id="rId22"/>
    </p:embeddedFont>
    <p:embeddedFont>
      <p:font typeface="Noto Serif Bold" charset="1" panose="02020800060500020200"/>
      <p:regular r:id="rId23"/>
    </p:embeddedFont>
    <p:embeddedFont>
      <p:font typeface="Open Sauce Bold" charset="1" panose="00000800000000000000"/>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1028700" y="7952031"/>
            <a:ext cx="1817785" cy="0"/>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028700" y="2081172"/>
            <a:ext cx="16230600" cy="2506980"/>
          </a:xfrm>
          <a:prstGeom prst="rect">
            <a:avLst/>
          </a:prstGeom>
        </p:spPr>
        <p:txBody>
          <a:bodyPr anchor="t" rtlCol="false" tIns="0" lIns="0" bIns="0" rIns="0">
            <a:spAutoFit/>
          </a:bodyPr>
          <a:lstStyle/>
          <a:p>
            <a:pPr algn="l">
              <a:lnSpc>
                <a:spcPts val="6719"/>
              </a:lnSpc>
            </a:pPr>
            <a:r>
              <a:rPr lang="en-US" b="true" sz="4800" spc="-192">
                <a:solidFill>
                  <a:srgbClr val="12100E"/>
                </a:solidFill>
                <a:latin typeface="Open Sauce Heavy"/>
                <a:ea typeface="Open Sauce Heavy"/>
                <a:cs typeface="Open Sauce Heavy"/>
                <a:sym typeface="Open Sauce Heavy"/>
              </a:rPr>
              <a:t>A CONTEXT-AWARE RECOMMENDATION SYSTEM FOR HOUSEHOLD SERVICE PROVIDERS USING ENSEMBLE LEARNING IN URBAN ENVIRONMENTS</a:t>
            </a:r>
          </a:p>
        </p:txBody>
      </p:sp>
      <p:sp>
        <p:nvSpPr>
          <p:cNvPr name="TextBox 4" id="4"/>
          <p:cNvSpPr txBox="true"/>
          <p:nvPr/>
        </p:nvSpPr>
        <p:spPr>
          <a:xfrm rot="0">
            <a:off x="1028700" y="5076825"/>
            <a:ext cx="8729030" cy="555352"/>
          </a:xfrm>
          <a:prstGeom prst="rect">
            <a:avLst/>
          </a:prstGeom>
        </p:spPr>
        <p:txBody>
          <a:bodyPr anchor="t" rtlCol="false" tIns="0" lIns="0" bIns="0" rIns="0">
            <a:spAutoFit/>
          </a:bodyPr>
          <a:lstStyle/>
          <a:p>
            <a:pPr algn="l">
              <a:lnSpc>
                <a:spcPts val="4565"/>
              </a:lnSpc>
            </a:pPr>
            <a:r>
              <a:rPr lang="en-US" sz="3260" spc="-65">
                <a:solidFill>
                  <a:srgbClr val="12100E"/>
                </a:solidFill>
                <a:latin typeface="Noto Serif"/>
                <a:ea typeface="Noto Serif"/>
                <a:cs typeface="Noto Serif"/>
                <a:sym typeface="Noto Serif"/>
              </a:rPr>
              <a:t>164003 - Mbithi Keith Austine -   ICS4E</a:t>
            </a:r>
          </a:p>
        </p:txBody>
      </p:sp>
      <p:sp>
        <p:nvSpPr>
          <p:cNvPr name="TextBox 5" id="5"/>
          <p:cNvSpPr txBox="true"/>
          <p:nvPr/>
        </p:nvSpPr>
        <p:spPr>
          <a:xfrm rot="0">
            <a:off x="1028700" y="6117952"/>
            <a:ext cx="5830887" cy="555352"/>
          </a:xfrm>
          <a:prstGeom prst="rect">
            <a:avLst/>
          </a:prstGeom>
        </p:spPr>
        <p:txBody>
          <a:bodyPr anchor="t" rtlCol="false" tIns="0" lIns="0" bIns="0" rIns="0">
            <a:spAutoFit/>
          </a:bodyPr>
          <a:lstStyle/>
          <a:p>
            <a:pPr algn="l">
              <a:lnSpc>
                <a:spcPts val="4565"/>
              </a:lnSpc>
            </a:pPr>
            <a:r>
              <a:rPr lang="en-US" sz="3260" spc="-65">
                <a:solidFill>
                  <a:srgbClr val="12100E"/>
                </a:solidFill>
                <a:latin typeface="Noto Serif"/>
                <a:ea typeface="Noto Serif"/>
                <a:cs typeface="Noto Serif"/>
                <a:sym typeface="Noto Serif"/>
              </a:rPr>
              <a:t>Supervisor: Dr. Deperias Kerre</a:t>
            </a:r>
          </a:p>
        </p:txBody>
      </p:sp>
      <p:sp>
        <p:nvSpPr>
          <p:cNvPr name="TextBox 6" id="6"/>
          <p:cNvSpPr txBox="true"/>
          <p:nvPr/>
        </p:nvSpPr>
        <p:spPr>
          <a:xfrm rot="0">
            <a:off x="1028700" y="8176338"/>
            <a:ext cx="5830887" cy="555352"/>
          </a:xfrm>
          <a:prstGeom prst="rect">
            <a:avLst/>
          </a:prstGeom>
        </p:spPr>
        <p:txBody>
          <a:bodyPr anchor="t" rtlCol="false" tIns="0" lIns="0" bIns="0" rIns="0">
            <a:spAutoFit/>
          </a:bodyPr>
          <a:lstStyle/>
          <a:p>
            <a:pPr algn="l">
              <a:lnSpc>
                <a:spcPts val="4565"/>
              </a:lnSpc>
            </a:pPr>
            <a:r>
              <a:rPr lang="en-US" sz="3260" spc="-65">
                <a:solidFill>
                  <a:srgbClr val="12100E"/>
                </a:solidFill>
                <a:latin typeface="Noto Serif"/>
                <a:ea typeface="Noto Serif"/>
                <a:cs typeface="Noto Serif"/>
                <a:sym typeface="Noto Serif"/>
              </a:rPr>
              <a:t>JULY 2026</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2</a:t>
            </a:r>
          </a:p>
        </p:txBody>
      </p:sp>
      <p:sp>
        <p:nvSpPr>
          <p:cNvPr name="AutoShape 3" id="3"/>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4" id="4"/>
          <p:cNvSpPr txBox="true"/>
          <p:nvPr/>
        </p:nvSpPr>
        <p:spPr>
          <a:xfrm rot="0">
            <a:off x="1028700" y="3328639"/>
            <a:ext cx="8684843" cy="2527935"/>
          </a:xfrm>
          <a:prstGeom prst="rect">
            <a:avLst/>
          </a:prstGeom>
        </p:spPr>
        <p:txBody>
          <a:bodyPr anchor="t" rtlCol="false" tIns="0" lIns="0" bIns="0" rIns="0">
            <a:spAutoFit/>
          </a:bodyPr>
          <a:lstStyle/>
          <a:p>
            <a:pPr algn="l" marL="0" indent="0" lvl="0">
              <a:lnSpc>
                <a:spcPts val="5040"/>
              </a:lnSpc>
              <a:spcBef>
                <a:spcPct val="0"/>
              </a:spcBef>
            </a:pPr>
            <a:r>
              <a:rPr lang="en-US" b="true" sz="3600" spc="-72">
                <a:solidFill>
                  <a:srgbClr val="12100E"/>
                </a:solidFill>
                <a:latin typeface="Noto Serif Bold"/>
                <a:ea typeface="Noto Serif Bold"/>
                <a:cs typeface="Noto Serif Bold"/>
                <a:sym typeface="Noto Serif Bold"/>
              </a:rPr>
              <a:t>Nairobi experienc</a:t>
            </a:r>
            <a:r>
              <a:rPr lang="en-US" b="true" sz="3600" spc="-72" strike="noStrike" u="none">
                <a:solidFill>
                  <a:srgbClr val="12100E"/>
                </a:solidFill>
                <a:latin typeface="Noto Serif Bold"/>
                <a:ea typeface="Noto Serif Bold"/>
                <a:cs typeface="Noto Serif Bold"/>
                <a:sym typeface="Noto Serif Bold"/>
              </a:rPr>
              <a:t>e</a:t>
            </a:r>
            <a:r>
              <a:rPr lang="en-US" b="true" sz="3600" spc="-72" strike="noStrike" u="none">
                <a:solidFill>
                  <a:srgbClr val="12100E"/>
                </a:solidFill>
                <a:latin typeface="Noto Serif Bold"/>
                <a:ea typeface="Noto Serif Bold"/>
                <a:cs typeface="Noto Serif Bold"/>
                <a:sym typeface="Noto Serif Bold"/>
              </a:rPr>
              <a:t>s</a:t>
            </a:r>
            <a:r>
              <a:rPr lang="en-US" b="true" sz="3600" spc="-72" strike="noStrike" u="none">
                <a:solidFill>
                  <a:srgbClr val="12100E"/>
                </a:solidFill>
                <a:latin typeface="Noto Serif Bold"/>
                <a:ea typeface="Noto Serif Bold"/>
                <a:cs typeface="Noto Serif Bold"/>
                <a:sym typeface="Noto Serif Bold"/>
              </a:rPr>
              <a:t> </a:t>
            </a:r>
            <a:r>
              <a:rPr lang="en-US" b="true" sz="3600" spc="-72" strike="noStrike" u="none">
                <a:solidFill>
                  <a:srgbClr val="12100E"/>
                </a:solidFill>
                <a:latin typeface="Noto Serif Bold"/>
                <a:ea typeface="Noto Serif Bold"/>
                <a:cs typeface="Noto Serif Bold"/>
                <a:sym typeface="Noto Serif Bold"/>
              </a:rPr>
              <a:t>som</a:t>
            </a:r>
            <a:r>
              <a:rPr lang="en-US" b="true" sz="3600" spc="-72" strike="noStrike" u="none">
                <a:solidFill>
                  <a:srgbClr val="12100E"/>
                </a:solidFill>
                <a:latin typeface="Noto Serif Bold"/>
                <a:ea typeface="Noto Serif Bold"/>
                <a:cs typeface="Noto Serif Bold"/>
                <a:sym typeface="Noto Serif Bold"/>
              </a:rPr>
              <a:t>e </a:t>
            </a:r>
            <a:r>
              <a:rPr lang="en-US" b="true" sz="3600" spc="-72" strike="noStrike" u="none">
                <a:solidFill>
                  <a:srgbClr val="12100E"/>
                </a:solidFill>
                <a:latin typeface="Noto Serif Bold"/>
                <a:ea typeface="Noto Serif Bold"/>
                <a:cs typeface="Noto Serif Bold"/>
                <a:sym typeface="Noto Serif Bold"/>
              </a:rPr>
              <a:t>of the</a:t>
            </a:r>
            <a:r>
              <a:rPr lang="en-US" b="true" sz="3600" spc="-72" strike="noStrike" u="none">
                <a:solidFill>
                  <a:srgbClr val="12100E"/>
                </a:solidFill>
                <a:latin typeface="Noto Serif Bold"/>
                <a:ea typeface="Noto Serif Bold"/>
                <a:cs typeface="Noto Serif Bold"/>
                <a:sym typeface="Noto Serif Bold"/>
              </a:rPr>
              <a:t> </a:t>
            </a:r>
            <a:r>
              <a:rPr lang="en-US" b="true" sz="3600" spc="-72" strike="noStrike" u="none">
                <a:solidFill>
                  <a:srgbClr val="12100E"/>
                </a:solidFill>
                <a:latin typeface="Noto Serif Bold"/>
                <a:ea typeface="Noto Serif Bold"/>
                <a:cs typeface="Noto Serif Bold"/>
                <a:sym typeface="Noto Serif Bold"/>
              </a:rPr>
              <a:t>wor</a:t>
            </a:r>
            <a:r>
              <a:rPr lang="en-US" b="true" sz="3600" spc="-72" strike="noStrike" u="none">
                <a:solidFill>
                  <a:srgbClr val="12100E"/>
                </a:solidFill>
                <a:latin typeface="Noto Serif Bold"/>
                <a:ea typeface="Noto Serif Bold"/>
                <a:cs typeface="Noto Serif Bold"/>
                <a:sym typeface="Noto Serif Bold"/>
              </a:rPr>
              <a:t>st</a:t>
            </a:r>
            <a:r>
              <a:rPr lang="en-US" b="true" sz="3600" spc="-72" strike="noStrike" u="none">
                <a:solidFill>
                  <a:srgbClr val="12100E"/>
                </a:solidFill>
                <a:latin typeface="Noto Serif Bold"/>
                <a:ea typeface="Noto Serif Bold"/>
                <a:cs typeface="Noto Serif Bold"/>
                <a:sym typeface="Noto Serif Bold"/>
              </a:rPr>
              <a:t> t</a:t>
            </a:r>
            <a:r>
              <a:rPr lang="en-US" b="true" sz="3600" spc="-72" strike="noStrike" u="none">
                <a:solidFill>
                  <a:srgbClr val="12100E"/>
                </a:solidFill>
                <a:latin typeface="Noto Serif Bold"/>
                <a:ea typeface="Noto Serif Bold"/>
                <a:cs typeface="Noto Serif Bold"/>
                <a:sym typeface="Noto Serif Bold"/>
              </a:rPr>
              <a:t>ra</a:t>
            </a:r>
            <a:r>
              <a:rPr lang="en-US" b="true" sz="3600" spc="-72" strike="noStrike" u="none">
                <a:solidFill>
                  <a:srgbClr val="12100E"/>
                </a:solidFill>
                <a:latin typeface="Noto Serif Bold"/>
                <a:ea typeface="Noto Serif Bold"/>
                <a:cs typeface="Noto Serif Bold"/>
                <a:sym typeface="Noto Serif Bold"/>
              </a:rPr>
              <a:t>ffic con</a:t>
            </a:r>
            <a:r>
              <a:rPr lang="en-US" b="true" sz="3600" spc="-72" strike="noStrike" u="none">
                <a:solidFill>
                  <a:srgbClr val="12100E"/>
                </a:solidFill>
                <a:latin typeface="Noto Serif Bold"/>
                <a:ea typeface="Noto Serif Bold"/>
                <a:cs typeface="Noto Serif Bold"/>
                <a:sym typeface="Noto Serif Bold"/>
              </a:rPr>
              <a:t>ge</a:t>
            </a:r>
            <a:r>
              <a:rPr lang="en-US" b="true" sz="3600" spc="-72" strike="noStrike" u="none">
                <a:solidFill>
                  <a:srgbClr val="12100E"/>
                </a:solidFill>
                <a:latin typeface="Noto Serif Bold"/>
                <a:ea typeface="Noto Serif Bold"/>
                <a:cs typeface="Noto Serif Bold"/>
                <a:sym typeface="Noto Serif Bold"/>
              </a:rPr>
              <a:t>stion in</a:t>
            </a:r>
            <a:r>
              <a:rPr lang="en-US" b="true" sz="3600" spc="-72" strike="noStrike" u="none">
                <a:solidFill>
                  <a:srgbClr val="12100E"/>
                </a:solidFill>
                <a:latin typeface="Noto Serif Bold"/>
                <a:ea typeface="Noto Serif Bold"/>
                <a:cs typeface="Noto Serif Bold"/>
                <a:sym typeface="Noto Serif Bold"/>
              </a:rPr>
              <a:t> </a:t>
            </a:r>
            <a:r>
              <a:rPr lang="en-US" b="true" sz="3600" spc="-72" strike="noStrike" u="none">
                <a:solidFill>
                  <a:srgbClr val="12100E"/>
                </a:solidFill>
                <a:latin typeface="Noto Serif Bold"/>
                <a:ea typeface="Noto Serif Bold"/>
                <a:cs typeface="Noto Serif Bold"/>
                <a:sym typeface="Noto Serif Bold"/>
              </a:rPr>
              <a:t>Afric</a:t>
            </a:r>
            <a:r>
              <a:rPr lang="en-US" b="true" sz="3600" spc="-72" strike="noStrike" u="none">
                <a:solidFill>
                  <a:srgbClr val="12100E"/>
                </a:solidFill>
                <a:latin typeface="Noto Serif Bold"/>
                <a:ea typeface="Noto Serif Bold"/>
                <a:cs typeface="Noto Serif Bold"/>
                <a:sym typeface="Noto Serif Bold"/>
              </a:rPr>
              <a:t>a</a:t>
            </a:r>
            <a:r>
              <a:rPr lang="en-US" b="true" sz="3600" spc="-72" strike="noStrike" u="none">
                <a:solidFill>
                  <a:srgbClr val="12100E"/>
                </a:solidFill>
                <a:latin typeface="Noto Serif Bold"/>
                <a:ea typeface="Noto Serif Bold"/>
                <a:cs typeface="Noto Serif Bold"/>
                <a:sym typeface="Noto Serif Bold"/>
              </a:rPr>
              <a:t>. Du</a:t>
            </a:r>
            <a:r>
              <a:rPr lang="en-US" b="true" sz="3600" spc="-72" strike="noStrike" u="none">
                <a:solidFill>
                  <a:srgbClr val="12100E"/>
                </a:solidFill>
                <a:latin typeface="Noto Serif Bold"/>
                <a:ea typeface="Noto Serif Bold"/>
                <a:cs typeface="Noto Serif Bold"/>
                <a:sym typeface="Noto Serif Bold"/>
              </a:rPr>
              <a:t>ring t</a:t>
            </a:r>
            <a:r>
              <a:rPr lang="en-US" b="true" sz="3600" spc="-72" strike="noStrike" u="none">
                <a:solidFill>
                  <a:srgbClr val="12100E"/>
                </a:solidFill>
                <a:latin typeface="Noto Serif Bold"/>
                <a:ea typeface="Noto Serif Bold"/>
                <a:cs typeface="Noto Serif Bold"/>
                <a:sym typeface="Noto Serif Bold"/>
              </a:rPr>
              <a:t>h</a:t>
            </a:r>
            <a:r>
              <a:rPr lang="en-US" b="true" sz="3600" spc="-72" strike="noStrike" u="none">
                <a:solidFill>
                  <a:srgbClr val="12100E"/>
                </a:solidFill>
                <a:latin typeface="Noto Serif Bold"/>
                <a:ea typeface="Noto Serif Bold"/>
                <a:cs typeface="Noto Serif Bold"/>
                <a:sym typeface="Noto Serif Bold"/>
              </a:rPr>
              <a:t>e </a:t>
            </a:r>
            <a:r>
              <a:rPr lang="en-US" b="true" sz="3600" spc="-72" strike="noStrike" u="none">
                <a:solidFill>
                  <a:srgbClr val="12100E"/>
                </a:solidFill>
                <a:latin typeface="Noto Serif Bold"/>
                <a:ea typeface="Noto Serif Bold"/>
                <a:cs typeface="Noto Serif Bold"/>
                <a:sym typeface="Noto Serif Bold"/>
              </a:rPr>
              <a:t>even</a:t>
            </a:r>
            <a:r>
              <a:rPr lang="en-US" b="true" sz="3600" spc="-72" strike="noStrike" u="none">
                <a:solidFill>
                  <a:srgbClr val="12100E"/>
                </a:solidFill>
                <a:latin typeface="Noto Serif Bold"/>
                <a:ea typeface="Noto Serif Bold"/>
                <a:cs typeface="Noto Serif Bold"/>
                <a:sym typeface="Noto Serif Bold"/>
              </a:rPr>
              <a:t>i</a:t>
            </a:r>
            <a:r>
              <a:rPr lang="en-US" b="true" sz="3600" spc="-72" strike="noStrike" u="none">
                <a:solidFill>
                  <a:srgbClr val="12100E"/>
                </a:solidFill>
                <a:latin typeface="Noto Serif Bold"/>
                <a:ea typeface="Noto Serif Bold"/>
                <a:cs typeface="Noto Serif Bold"/>
                <a:sym typeface="Noto Serif Bold"/>
              </a:rPr>
              <a:t>ng</a:t>
            </a:r>
            <a:r>
              <a:rPr lang="en-US" b="true" sz="3600" spc="-72" strike="noStrike" u="none">
                <a:solidFill>
                  <a:srgbClr val="12100E"/>
                </a:solidFill>
                <a:latin typeface="Noto Serif Bold"/>
                <a:ea typeface="Noto Serif Bold"/>
                <a:cs typeface="Noto Serif Bold"/>
                <a:sym typeface="Noto Serif Bold"/>
              </a:rPr>
              <a:t> r</a:t>
            </a:r>
            <a:r>
              <a:rPr lang="en-US" b="true" sz="3600" spc="-72" strike="noStrike" u="none">
                <a:solidFill>
                  <a:srgbClr val="12100E"/>
                </a:solidFill>
                <a:latin typeface="Noto Serif Bold"/>
                <a:ea typeface="Noto Serif Bold"/>
                <a:cs typeface="Noto Serif Bold"/>
                <a:sym typeface="Noto Serif Bold"/>
              </a:rPr>
              <a:t>ush,</a:t>
            </a:r>
            <a:r>
              <a:rPr lang="en-US" b="true" sz="3600" spc="-72" strike="noStrike" u="none">
                <a:solidFill>
                  <a:srgbClr val="12100E"/>
                </a:solidFill>
                <a:latin typeface="Noto Serif Bold"/>
                <a:ea typeface="Noto Serif Bold"/>
                <a:cs typeface="Noto Serif Bold"/>
                <a:sym typeface="Noto Serif Bold"/>
              </a:rPr>
              <a:t> </a:t>
            </a:r>
            <a:r>
              <a:rPr lang="en-US" b="true" sz="3600" spc="-72" strike="noStrike" u="none">
                <a:solidFill>
                  <a:srgbClr val="12100E"/>
                </a:solidFill>
                <a:latin typeface="Noto Serif Bold"/>
                <a:ea typeface="Noto Serif Bold"/>
                <a:cs typeface="Noto Serif Bold"/>
                <a:sym typeface="Noto Serif Bold"/>
              </a:rPr>
              <a:t>c</a:t>
            </a:r>
            <a:r>
              <a:rPr lang="en-US" b="true" sz="3600" spc="-72" strike="noStrike" u="none">
                <a:solidFill>
                  <a:srgbClr val="12100E"/>
                </a:solidFill>
                <a:latin typeface="Noto Serif Bold"/>
                <a:ea typeface="Noto Serif Bold"/>
                <a:cs typeface="Noto Serif Bold"/>
                <a:sym typeface="Noto Serif Bold"/>
              </a:rPr>
              <a:t>on</a:t>
            </a:r>
            <a:r>
              <a:rPr lang="en-US" b="true" sz="3600" spc="-72" strike="noStrike" u="none">
                <a:solidFill>
                  <a:srgbClr val="12100E"/>
                </a:solidFill>
                <a:latin typeface="Noto Serif Bold"/>
                <a:ea typeface="Noto Serif Bold"/>
                <a:cs typeface="Noto Serif Bold"/>
                <a:sym typeface="Noto Serif Bold"/>
              </a:rPr>
              <a:t>g</a:t>
            </a:r>
            <a:r>
              <a:rPr lang="en-US" b="true" sz="3600" spc="-72" strike="noStrike" u="none">
                <a:solidFill>
                  <a:srgbClr val="12100E"/>
                </a:solidFill>
                <a:latin typeface="Noto Serif Bold"/>
                <a:ea typeface="Noto Serif Bold"/>
                <a:cs typeface="Noto Serif Bold"/>
                <a:sym typeface="Noto Serif Bold"/>
              </a:rPr>
              <a:t>es</a:t>
            </a:r>
            <a:r>
              <a:rPr lang="en-US" b="true" sz="3600" spc="-72" strike="noStrike" u="none">
                <a:solidFill>
                  <a:srgbClr val="12100E"/>
                </a:solidFill>
                <a:latin typeface="Noto Serif Bold"/>
                <a:ea typeface="Noto Serif Bold"/>
                <a:cs typeface="Noto Serif Bold"/>
                <a:sym typeface="Noto Serif Bold"/>
              </a:rPr>
              <a:t>t</a:t>
            </a:r>
            <a:r>
              <a:rPr lang="en-US" b="true" sz="3600" spc="-72" strike="noStrike" u="none">
                <a:solidFill>
                  <a:srgbClr val="12100E"/>
                </a:solidFill>
                <a:latin typeface="Noto Serif Bold"/>
                <a:ea typeface="Noto Serif Bold"/>
                <a:cs typeface="Noto Serif Bold"/>
                <a:sym typeface="Noto Serif Bold"/>
              </a:rPr>
              <a:t>i</a:t>
            </a:r>
            <a:r>
              <a:rPr lang="en-US" b="true" sz="3600" spc="-72" strike="noStrike" u="none">
                <a:solidFill>
                  <a:srgbClr val="12100E"/>
                </a:solidFill>
                <a:latin typeface="Noto Serif Bold"/>
                <a:ea typeface="Noto Serif Bold"/>
                <a:cs typeface="Noto Serif Bold"/>
                <a:sym typeface="Noto Serif Bold"/>
              </a:rPr>
              <a:t>o</a:t>
            </a:r>
            <a:r>
              <a:rPr lang="en-US" b="true" sz="3600" spc="-72" strike="noStrike" u="none">
                <a:solidFill>
                  <a:srgbClr val="12100E"/>
                </a:solidFill>
                <a:latin typeface="Noto Serif Bold"/>
                <a:ea typeface="Noto Serif Bold"/>
                <a:cs typeface="Noto Serif Bold"/>
                <a:sym typeface="Noto Serif Bold"/>
              </a:rPr>
              <a:t>n</a:t>
            </a:r>
            <a:r>
              <a:rPr lang="en-US" b="true" sz="3600" spc="-72" strike="noStrike" u="none">
                <a:solidFill>
                  <a:srgbClr val="12100E"/>
                </a:solidFill>
                <a:latin typeface="Noto Serif Bold"/>
                <a:ea typeface="Noto Serif Bold"/>
                <a:cs typeface="Noto Serif Bold"/>
                <a:sym typeface="Noto Serif Bold"/>
              </a:rPr>
              <a:t> r</a:t>
            </a:r>
            <a:r>
              <a:rPr lang="en-US" b="true" sz="3600" spc="-72" strike="noStrike" u="none">
                <a:solidFill>
                  <a:srgbClr val="12100E"/>
                </a:solidFill>
                <a:latin typeface="Noto Serif Bold"/>
                <a:ea typeface="Noto Serif Bold"/>
                <a:cs typeface="Noto Serif Bold"/>
                <a:sym typeface="Noto Serif Bold"/>
              </a:rPr>
              <a:t>e</a:t>
            </a:r>
            <a:r>
              <a:rPr lang="en-US" b="true" sz="3600" spc="-72" strike="noStrike" u="none">
                <a:solidFill>
                  <a:srgbClr val="12100E"/>
                </a:solidFill>
                <a:latin typeface="Noto Serif Bold"/>
                <a:ea typeface="Noto Serif Bold"/>
                <a:cs typeface="Noto Serif Bold"/>
                <a:sym typeface="Noto Serif Bold"/>
              </a:rPr>
              <a:t>ach</a:t>
            </a:r>
            <a:r>
              <a:rPr lang="en-US" b="true" sz="3600" spc="-72" strike="noStrike" u="none">
                <a:solidFill>
                  <a:srgbClr val="12100E"/>
                </a:solidFill>
                <a:latin typeface="Noto Serif Bold"/>
                <a:ea typeface="Noto Serif Bold"/>
                <a:cs typeface="Noto Serif Bold"/>
                <a:sym typeface="Noto Serif Bold"/>
              </a:rPr>
              <a:t>es</a:t>
            </a:r>
            <a:r>
              <a:rPr lang="en-US" b="true" sz="3600" spc="-72" strike="noStrike" u="none">
                <a:solidFill>
                  <a:srgbClr val="12100E"/>
                </a:solidFill>
                <a:latin typeface="Noto Serif Bold"/>
                <a:ea typeface="Noto Serif Bold"/>
                <a:cs typeface="Noto Serif Bold"/>
                <a:sym typeface="Noto Serif Bold"/>
              </a:rPr>
              <a:t> 98.8%</a:t>
            </a:r>
            <a:r>
              <a:rPr lang="en-US" b="true" sz="3600" spc="-72" strike="noStrike" u="none">
                <a:solidFill>
                  <a:srgbClr val="12100E"/>
                </a:solidFill>
                <a:latin typeface="Noto Serif Bold"/>
                <a:ea typeface="Noto Serif Bold"/>
                <a:cs typeface="Noto Serif Bold"/>
                <a:sym typeface="Noto Serif Bold"/>
              </a:rPr>
              <a:t>.</a:t>
            </a:r>
          </a:p>
        </p:txBody>
      </p:sp>
      <p:sp>
        <p:nvSpPr>
          <p:cNvPr name="TextBox 5" id="5"/>
          <p:cNvSpPr txBox="true"/>
          <p:nvPr/>
        </p:nvSpPr>
        <p:spPr>
          <a:xfrm rot="0">
            <a:off x="1028700" y="1021150"/>
            <a:ext cx="10034500" cy="613410"/>
          </a:xfrm>
          <a:prstGeom prst="rect">
            <a:avLst/>
          </a:prstGeom>
        </p:spPr>
        <p:txBody>
          <a:bodyPr anchor="t" rtlCol="false" tIns="0" lIns="0" bIns="0" rIns="0">
            <a:spAutoFit/>
          </a:bodyPr>
          <a:lstStyle/>
          <a:p>
            <a:pPr algn="l">
              <a:lnSpc>
                <a:spcPts val="5040"/>
              </a:lnSpc>
            </a:pPr>
            <a:r>
              <a:rPr lang="en-US" b="true" sz="3600" spc="359">
                <a:solidFill>
                  <a:srgbClr val="12100E"/>
                </a:solidFill>
                <a:latin typeface="Open Sauce Bold"/>
                <a:ea typeface="Open Sauce Bold"/>
                <a:cs typeface="Open Sauce Bold"/>
                <a:sym typeface="Open Sauce Bold"/>
              </a:rPr>
              <a:t>BACKGROUND</a:t>
            </a:r>
          </a:p>
        </p:txBody>
      </p:sp>
      <p:sp>
        <p:nvSpPr>
          <p:cNvPr name="TextBox 6" id="6"/>
          <p:cNvSpPr txBox="true"/>
          <p:nvPr/>
        </p:nvSpPr>
        <p:spPr>
          <a:xfrm rot="0">
            <a:off x="1028700" y="5789899"/>
            <a:ext cx="8684843" cy="2967355"/>
          </a:xfrm>
          <a:prstGeom prst="rect">
            <a:avLst/>
          </a:prstGeom>
        </p:spPr>
        <p:txBody>
          <a:bodyPr anchor="t" rtlCol="false" tIns="0" lIns="0" bIns="0" rIns="0">
            <a:spAutoFit/>
          </a:bodyPr>
          <a:lstStyle/>
          <a:p>
            <a:pPr algn="l">
              <a:lnSpc>
                <a:spcPts val="3919"/>
              </a:lnSpc>
            </a:pPr>
            <a:r>
              <a:rPr lang="en-US" sz="2799" spc="-55">
                <a:solidFill>
                  <a:srgbClr val="12100E"/>
                </a:solidFill>
                <a:latin typeface="Open Sauce"/>
                <a:ea typeface="Open Sauce"/>
                <a:cs typeface="Open Sauce"/>
                <a:sym typeface="Open Sauce"/>
              </a:rPr>
              <a:t>A service provider commuting 3 km across a congested corridor can take significantly longer than one traveling 6 km on a clear road, making pure distance-based recommendations completely ineffective.</a:t>
            </a:r>
          </a:p>
          <a:p>
            <a:pPr algn="l">
              <a:lnSpc>
                <a:spcPts val="3919"/>
              </a:lnSpc>
            </a:pPr>
          </a:p>
        </p:txBody>
      </p:sp>
      <p:sp>
        <p:nvSpPr>
          <p:cNvPr name="TextBox 7" id="7"/>
          <p:cNvSpPr txBox="true"/>
          <p:nvPr/>
        </p:nvSpPr>
        <p:spPr>
          <a:xfrm rot="0">
            <a:off x="13089098" y="3580455"/>
            <a:ext cx="1621322"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FFFDF4"/>
                </a:solidFill>
                <a:latin typeface="Open Sauce Bold"/>
                <a:ea typeface="Open Sauce Bold"/>
                <a:cs typeface="Open Sauce Bold"/>
                <a:sym typeface="Open Sauce Bold"/>
              </a:rPr>
              <a:t>BRAND</a:t>
            </a:r>
          </a:p>
        </p:txBody>
      </p:sp>
      <p:sp>
        <p:nvSpPr>
          <p:cNvPr name="TextBox 8" id="8"/>
          <p:cNvSpPr txBox="true"/>
          <p:nvPr/>
        </p:nvSpPr>
        <p:spPr>
          <a:xfrm rot="3743841">
            <a:off x="11055432" y="6388590"/>
            <a:ext cx="1455986" cy="470028"/>
          </a:xfrm>
          <a:prstGeom prst="rect">
            <a:avLst/>
          </a:prstGeom>
        </p:spPr>
        <p:txBody>
          <a:bodyPr anchor="t" rtlCol="false" tIns="0" lIns="0" bIns="0" rIns="0">
            <a:spAutoFit/>
          </a:bodyPr>
          <a:lstStyle/>
          <a:p>
            <a:pPr algn="ctr">
              <a:lnSpc>
                <a:spcPts val="3079"/>
              </a:lnSpc>
              <a:spcBef>
                <a:spcPct val="0"/>
              </a:spcBef>
            </a:pPr>
            <a:r>
              <a:rPr lang="en-US" b="true" sz="2199">
                <a:solidFill>
                  <a:srgbClr val="FFFDF4"/>
                </a:solidFill>
                <a:latin typeface="Open Sauce Bold"/>
                <a:ea typeface="Open Sauce Bold"/>
                <a:cs typeface="Open Sauce Bold"/>
                <a:sym typeface="Open Sauce Bold"/>
              </a:rPr>
              <a:t>CONTENT</a:t>
            </a:r>
          </a:p>
        </p:txBody>
      </p:sp>
      <p:sp>
        <p:nvSpPr>
          <p:cNvPr name="TextBox 9" id="9"/>
          <p:cNvSpPr txBox="true"/>
          <p:nvPr/>
        </p:nvSpPr>
        <p:spPr>
          <a:xfrm rot="-3744000">
            <a:off x="14822916" y="6437251"/>
            <a:ext cx="2260736" cy="611817"/>
          </a:xfrm>
          <a:prstGeom prst="rect">
            <a:avLst/>
          </a:prstGeom>
        </p:spPr>
        <p:txBody>
          <a:bodyPr anchor="t" rtlCol="false" tIns="0" lIns="0" bIns="0" rIns="0">
            <a:spAutoFit/>
          </a:bodyPr>
          <a:lstStyle/>
          <a:p>
            <a:pPr algn="ctr">
              <a:lnSpc>
                <a:spcPts val="3079"/>
              </a:lnSpc>
              <a:spcBef>
                <a:spcPct val="0"/>
              </a:spcBef>
            </a:pPr>
            <a:r>
              <a:rPr lang="en-US" b="true" sz="2199">
                <a:solidFill>
                  <a:srgbClr val="FFFDF4"/>
                </a:solidFill>
                <a:latin typeface="Open Sauce Bold"/>
                <a:ea typeface="Open Sauce Bold"/>
                <a:cs typeface="Open Sauce Bold"/>
                <a:sym typeface="Open Sauce Bold"/>
              </a:rPr>
              <a:t>PERFORMANCE</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3</a:t>
            </a:r>
          </a:p>
        </p:txBody>
      </p:sp>
      <p:sp>
        <p:nvSpPr>
          <p:cNvPr name="TextBox 4" id="4"/>
          <p:cNvSpPr txBox="true"/>
          <p:nvPr/>
        </p:nvSpPr>
        <p:spPr>
          <a:xfrm rot="0">
            <a:off x="1028700" y="1021150"/>
            <a:ext cx="10034500" cy="613410"/>
          </a:xfrm>
          <a:prstGeom prst="rect">
            <a:avLst/>
          </a:prstGeom>
        </p:spPr>
        <p:txBody>
          <a:bodyPr anchor="t" rtlCol="false" tIns="0" lIns="0" bIns="0" rIns="0">
            <a:spAutoFit/>
          </a:bodyPr>
          <a:lstStyle/>
          <a:p>
            <a:pPr algn="l">
              <a:lnSpc>
                <a:spcPts val="5040"/>
              </a:lnSpc>
            </a:pPr>
            <a:r>
              <a:rPr lang="en-US" b="true" sz="3600" spc="359">
                <a:solidFill>
                  <a:srgbClr val="12100E"/>
                </a:solidFill>
                <a:latin typeface="Open Sauce Bold"/>
                <a:ea typeface="Open Sauce Bold"/>
                <a:cs typeface="Open Sauce Bold"/>
                <a:sym typeface="Open Sauce Bold"/>
              </a:rPr>
              <a:t>PROBLEM STATEMENT</a:t>
            </a:r>
          </a:p>
        </p:txBody>
      </p:sp>
      <p:sp>
        <p:nvSpPr>
          <p:cNvPr name="TextBox 5" id="5"/>
          <p:cNvSpPr txBox="true"/>
          <p:nvPr/>
        </p:nvSpPr>
        <p:spPr>
          <a:xfrm rot="0">
            <a:off x="728938" y="2160126"/>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WHAT IS HAPPENING</a:t>
            </a:r>
          </a:p>
        </p:txBody>
      </p:sp>
      <p:sp>
        <p:nvSpPr>
          <p:cNvPr name="TextBox 6" id="6"/>
          <p:cNvSpPr txBox="true"/>
          <p:nvPr/>
        </p:nvSpPr>
        <p:spPr>
          <a:xfrm rot="0">
            <a:off x="664869" y="2767865"/>
            <a:ext cx="16594431" cy="1596391"/>
          </a:xfrm>
          <a:prstGeom prst="rect">
            <a:avLst/>
          </a:prstGeom>
        </p:spPr>
        <p:txBody>
          <a:bodyPr anchor="t" rtlCol="false" tIns="0" lIns="0" bIns="0" rIns="0">
            <a:spAutoFit/>
          </a:bodyPr>
          <a:lstStyle/>
          <a:p>
            <a:pPr algn="just">
              <a:lnSpc>
                <a:spcPts val="4319"/>
              </a:lnSpc>
              <a:spcBef>
                <a:spcPct val="0"/>
              </a:spcBef>
            </a:pPr>
            <a:r>
              <a:rPr lang="en-US" sz="2699">
                <a:solidFill>
                  <a:srgbClr val="000000"/>
                </a:solidFill>
                <a:latin typeface="Open Sauce"/>
                <a:ea typeface="Open Sauce"/>
                <a:cs typeface="Open Sauce"/>
                <a:sym typeface="Open Sauce"/>
              </a:rPr>
              <a:t>When s</a:t>
            </a:r>
            <a:r>
              <a:rPr lang="en-US" sz="2699">
                <a:solidFill>
                  <a:srgbClr val="000000"/>
                </a:solidFill>
                <a:latin typeface="Open Sauce"/>
                <a:ea typeface="Open Sauce"/>
                <a:cs typeface="Open Sauce"/>
                <a:sym typeface="Open Sauce"/>
              </a:rPr>
              <a:t>omeone in Nairobi needs a plumber, electrician, or cleaner, they open an app like Mama Fua, Fundis, or Kazi Konekt. Every single one of these platforms recommends providers using proximity and ratings only who is nearest and who has the best star rating</a:t>
            </a:r>
          </a:p>
        </p:txBody>
      </p:sp>
      <p:sp>
        <p:nvSpPr>
          <p:cNvPr name="TextBox 7" id="7"/>
          <p:cNvSpPr txBox="true"/>
          <p:nvPr/>
        </p:nvSpPr>
        <p:spPr>
          <a:xfrm rot="0">
            <a:off x="664869" y="4610001"/>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LIMITATIONS</a:t>
            </a:r>
          </a:p>
        </p:txBody>
      </p:sp>
      <p:sp>
        <p:nvSpPr>
          <p:cNvPr name="TextBox 8" id="8"/>
          <p:cNvSpPr txBox="true"/>
          <p:nvPr/>
        </p:nvSpPr>
        <p:spPr>
          <a:xfrm rot="0">
            <a:off x="728938" y="5213886"/>
            <a:ext cx="16530362" cy="4311016"/>
          </a:xfrm>
          <a:prstGeom prst="rect">
            <a:avLst/>
          </a:prstGeom>
        </p:spPr>
        <p:txBody>
          <a:bodyPr anchor="t" rtlCol="false" tIns="0" lIns="0" bIns="0" rIns="0">
            <a:spAutoFit/>
          </a:bodyPr>
          <a:lstStyle/>
          <a:p>
            <a:pPr algn="just">
              <a:lnSpc>
                <a:spcPts val="4319"/>
              </a:lnSpc>
              <a:spcBef>
                <a:spcPct val="0"/>
              </a:spcBef>
            </a:pPr>
            <a:r>
              <a:rPr lang="en-US" sz="2699">
                <a:solidFill>
                  <a:srgbClr val="000000"/>
                </a:solidFill>
                <a:latin typeface="Open Sauce"/>
                <a:ea typeface="Open Sauce"/>
                <a:cs typeface="Open Sauce"/>
                <a:sym typeface="Open Sauce"/>
              </a:rPr>
              <a:t>Nairobi has some of the worst traffic congestion in Africa:</a:t>
            </a:r>
          </a:p>
          <a:p>
            <a:pPr algn="just" marL="582927" indent="-291463" lvl="1">
              <a:lnSpc>
                <a:spcPts val="4319"/>
              </a:lnSpc>
              <a:spcBef>
                <a:spcPct val="0"/>
              </a:spcBef>
              <a:buFont typeface="Arial"/>
              <a:buChar char="•"/>
            </a:pPr>
            <a:r>
              <a:rPr lang="en-US" sz="2699">
                <a:solidFill>
                  <a:srgbClr val="000000"/>
                </a:solidFill>
                <a:latin typeface="Open Sauce"/>
                <a:ea typeface="Open Sauce"/>
                <a:cs typeface="Open Sauce"/>
                <a:sym typeface="Open Sauce"/>
              </a:rPr>
              <a:t>A provider 3 km away across a congested corridor can take longer to arrive than one 6 km away on a clear road</a:t>
            </a:r>
          </a:p>
          <a:p>
            <a:pPr algn="just" marL="582927" indent="-291463" lvl="1">
              <a:lnSpc>
                <a:spcPts val="4319"/>
              </a:lnSpc>
              <a:spcBef>
                <a:spcPct val="0"/>
              </a:spcBef>
              <a:buFont typeface="Arial"/>
              <a:buChar char="•"/>
            </a:pPr>
            <a:r>
              <a:rPr lang="en-US" sz="2699">
                <a:solidFill>
                  <a:srgbClr val="000000"/>
                </a:solidFill>
                <a:latin typeface="Open Sauce"/>
                <a:ea typeface="Open Sauce"/>
                <a:cs typeface="Open Sauce"/>
                <a:sym typeface="Open Sauce"/>
              </a:rPr>
              <a:t>Road quality varies massively Karen and Westlands have good tarmac; Githurai, Dagoretti, and Embakasi have poor unpaved roads</a:t>
            </a:r>
          </a:p>
          <a:p>
            <a:pPr algn="just" marL="582927" indent="-291463" lvl="1">
              <a:lnSpc>
                <a:spcPts val="4319"/>
              </a:lnSpc>
              <a:spcBef>
                <a:spcPct val="0"/>
              </a:spcBef>
              <a:buFont typeface="Arial"/>
              <a:buChar char="•"/>
            </a:pPr>
            <a:r>
              <a:rPr lang="en-US" sz="2699">
                <a:solidFill>
                  <a:srgbClr val="000000"/>
                </a:solidFill>
                <a:latin typeface="Open Sauce"/>
                <a:ea typeface="Open Sauce"/>
                <a:cs typeface="Open Sauce"/>
                <a:sym typeface="Open Sauce"/>
              </a:rPr>
              <a:t>Most providers commute by matatu or motorcycle, making them extremely sensitive to road and traffic conditions</a:t>
            </a:r>
          </a:p>
          <a:p>
            <a:pPr algn="just">
              <a:lnSpc>
                <a:spcPts val="431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4</a:t>
            </a:r>
          </a:p>
        </p:txBody>
      </p:sp>
      <p:sp>
        <p:nvSpPr>
          <p:cNvPr name="TextBox 4" id="4"/>
          <p:cNvSpPr txBox="true"/>
          <p:nvPr/>
        </p:nvSpPr>
        <p:spPr>
          <a:xfrm rot="0">
            <a:off x="1028700" y="1021150"/>
            <a:ext cx="10034500" cy="613410"/>
          </a:xfrm>
          <a:prstGeom prst="rect">
            <a:avLst/>
          </a:prstGeom>
        </p:spPr>
        <p:txBody>
          <a:bodyPr anchor="t" rtlCol="false" tIns="0" lIns="0" bIns="0" rIns="0">
            <a:spAutoFit/>
          </a:bodyPr>
          <a:lstStyle/>
          <a:p>
            <a:pPr algn="l">
              <a:lnSpc>
                <a:spcPts val="5040"/>
              </a:lnSpc>
            </a:pPr>
            <a:r>
              <a:rPr lang="en-US" b="true" sz="3600" spc="359">
                <a:solidFill>
                  <a:srgbClr val="12100E"/>
                </a:solidFill>
                <a:latin typeface="Open Sauce Bold"/>
                <a:ea typeface="Open Sauce Bold"/>
                <a:cs typeface="Open Sauce Bold"/>
                <a:sym typeface="Open Sauce Bold"/>
              </a:rPr>
              <a:t>PROBLEM STATEMENT</a:t>
            </a:r>
          </a:p>
        </p:txBody>
      </p:sp>
      <p:sp>
        <p:nvSpPr>
          <p:cNvPr name="TextBox 5" id="5"/>
          <p:cNvSpPr txBox="true"/>
          <p:nvPr/>
        </p:nvSpPr>
        <p:spPr>
          <a:xfrm rot="0">
            <a:off x="728938" y="2160126"/>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CONSEQUENCE</a:t>
            </a:r>
          </a:p>
        </p:txBody>
      </p:sp>
      <p:sp>
        <p:nvSpPr>
          <p:cNvPr name="TextBox 6" id="6"/>
          <p:cNvSpPr txBox="true"/>
          <p:nvPr/>
        </p:nvSpPr>
        <p:spPr>
          <a:xfrm rot="0">
            <a:off x="664869" y="2767865"/>
            <a:ext cx="16594431" cy="1596391"/>
          </a:xfrm>
          <a:prstGeom prst="rect">
            <a:avLst/>
          </a:prstGeom>
        </p:spPr>
        <p:txBody>
          <a:bodyPr anchor="t" rtlCol="false" tIns="0" lIns="0" bIns="0" rIns="0">
            <a:spAutoFit/>
          </a:bodyPr>
          <a:lstStyle/>
          <a:p>
            <a:pPr algn="just">
              <a:lnSpc>
                <a:spcPts val="4319"/>
              </a:lnSpc>
              <a:spcBef>
                <a:spcPct val="0"/>
              </a:spcBef>
            </a:pPr>
            <a:r>
              <a:rPr lang="en-US" sz="2699">
                <a:solidFill>
                  <a:srgbClr val="000000"/>
                </a:solidFill>
                <a:latin typeface="Open Sauce"/>
                <a:ea typeface="Open Sauce"/>
                <a:cs typeface="Open Sauce"/>
                <a:sym typeface="Open Sauce"/>
              </a:rPr>
              <a:t>Clients book a highly-rated, nearby provider who never shows up on time or gives substandard  work because the platform had no idea about traffic conditions, road quality, or time of day. This erodes trust in the platforms and wastes everyone's time.</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028700" y="1021150"/>
            <a:ext cx="7012247"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strike="noStrike" u="none">
                <a:solidFill>
                  <a:srgbClr val="12100E"/>
                </a:solidFill>
                <a:latin typeface="Open Sauce Bold"/>
                <a:ea typeface="Open Sauce Bold"/>
                <a:cs typeface="Open Sauce Bold"/>
                <a:sym typeface="Open Sauce Bold"/>
              </a:rPr>
              <a:t>OBJECTIVES</a:t>
            </a:r>
          </a:p>
        </p:txBody>
      </p:sp>
      <p:sp>
        <p:nvSpPr>
          <p:cNvPr name="TextBox 4" id="4"/>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5</a:t>
            </a:r>
          </a:p>
        </p:txBody>
      </p:sp>
      <p:sp>
        <p:nvSpPr>
          <p:cNvPr name="TextBox 5" id="5"/>
          <p:cNvSpPr txBox="true"/>
          <p:nvPr/>
        </p:nvSpPr>
        <p:spPr>
          <a:xfrm rot="0">
            <a:off x="728938" y="2690028"/>
            <a:ext cx="16530362" cy="1596391"/>
          </a:xfrm>
          <a:prstGeom prst="rect">
            <a:avLst/>
          </a:prstGeom>
        </p:spPr>
        <p:txBody>
          <a:bodyPr anchor="t" rtlCol="false" tIns="0" lIns="0" bIns="0" rIns="0">
            <a:spAutoFit/>
          </a:bodyPr>
          <a:lstStyle/>
          <a:p>
            <a:pPr algn="just">
              <a:lnSpc>
                <a:spcPts val="4319"/>
              </a:lnSpc>
              <a:spcBef>
                <a:spcPct val="0"/>
              </a:spcBef>
            </a:pPr>
            <a:r>
              <a:rPr lang="en-US" sz="2699">
                <a:solidFill>
                  <a:srgbClr val="000000"/>
                </a:solidFill>
                <a:latin typeface="Open Sauce"/>
                <a:ea typeface="Open Sauce"/>
                <a:cs typeface="Open Sauce"/>
                <a:sym typeface="Open Sauce"/>
              </a:rPr>
              <a:t>To devel</a:t>
            </a:r>
            <a:r>
              <a:rPr lang="en-US" sz="2699">
                <a:solidFill>
                  <a:srgbClr val="000000"/>
                </a:solidFill>
                <a:latin typeface="Open Sauce"/>
                <a:ea typeface="Open Sauce"/>
                <a:cs typeface="Open Sauce"/>
                <a:sym typeface="Open Sauce"/>
              </a:rPr>
              <a:t>op a web-based system that recommends providers using an ML-driven arrival reliability score factoring in traffic and historical performance.</a:t>
            </a:r>
          </a:p>
          <a:p>
            <a:pPr algn="just">
              <a:lnSpc>
                <a:spcPts val="4319"/>
              </a:lnSpc>
              <a:spcBef>
                <a:spcPct val="0"/>
              </a:spcBef>
            </a:pPr>
          </a:p>
        </p:txBody>
      </p:sp>
      <p:sp>
        <p:nvSpPr>
          <p:cNvPr name="TextBox 6" id="6"/>
          <p:cNvSpPr txBox="true"/>
          <p:nvPr/>
        </p:nvSpPr>
        <p:spPr>
          <a:xfrm rot="0">
            <a:off x="728938" y="2160126"/>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GENERAL OBJECTIVE</a:t>
            </a:r>
          </a:p>
        </p:txBody>
      </p:sp>
      <p:sp>
        <p:nvSpPr>
          <p:cNvPr name="TextBox 7" id="7"/>
          <p:cNvSpPr txBox="true"/>
          <p:nvPr/>
        </p:nvSpPr>
        <p:spPr>
          <a:xfrm rot="0">
            <a:off x="664869" y="4248318"/>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SPECIFIC OBJECTIVES</a:t>
            </a:r>
          </a:p>
        </p:txBody>
      </p:sp>
      <p:sp>
        <p:nvSpPr>
          <p:cNvPr name="TextBox 8" id="8"/>
          <p:cNvSpPr txBox="true"/>
          <p:nvPr/>
        </p:nvSpPr>
        <p:spPr>
          <a:xfrm rot="0">
            <a:off x="664869" y="4947284"/>
            <a:ext cx="16530362" cy="4311016"/>
          </a:xfrm>
          <a:prstGeom prst="rect">
            <a:avLst/>
          </a:prstGeom>
        </p:spPr>
        <p:txBody>
          <a:bodyPr anchor="t" rtlCol="false" tIns="0" lIns="0" bIns="0" rIns="0">
            <a:spAutoFit/>
          </a:bodyPr>
          <a:lstStyle/>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To identify the key factors that influence the reliability of household service providers in urban Nairobi, including traffic conditions, time of day, r</a:t>
            </a:r>
            <a:r>
              <a:rPr lang="en-US" sz="2699">
                <a:solidFill>
                  <a:srgbClr val="000000"/>
                </a:solidFill>
                <a:latin typeface="Open Sauce"/>
                <a:ea typeface="Open Sauce"/>
                <a:cs typeface="Open Sauce"/>
                <a:sym typeface="Open Sauce"/>
              </a:rPr>
              <a:t>oad quality, and past provider performance. </a:t>
            </a:r>
          </a:p>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To review existing Kenyan service-matching platforms and ML-based recommendation systems and identify gaps in contextual awareness and travel-time prediction. </a:t>
            </a:r>
          </a:p>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To develop a machine learning model that combines travel and provider-related factors to predict provider arrival reliability. </a:t>
            </a:r>
          </a:p>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To evaluate the model's performance against distance-based and rating-based recommendation approaches using RMSE and MAE metrics.</a:t>
            </a:r>
          </a:p>
        </p:txBody>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6</a:t>
            </a:r>
          </a:p>
        </p:txBody>
      </p:sp>
      <p:sp>
        <p:nvSpPr>
          <p:cNvPr name="TextBox 4" id="4"/>
          <p:cNvSpPr txBox="true"/>
          <p:nvPr/>
        </p:nvSpPr>
        <p:spPr>
          <a:xfrm rot="0">
            <a:off x="1028700" y="1021150"/>
            <a:ext cx="7012247"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JUSTIFICATION</a:t>
            </a:r>
          </a:p>
        </p:txBody>
      </p:sp>
      <p:sp>
        <p:nvSpPr>
          <p:cNvPr name="TextBox 5" id="5"/>
          <p:cNvSpPr txBox="true"/>
          <p:nvPr/>
        </p:nvSpPr>
        <p:spPr>
          <a:xfrm rot="0">
            <a:off x="1028700" y="2134170"/>
            <a:ext cx="16230600" cy="11804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Improves</a:t>
            </a:r>
            <a:r>
              <a:rPr lang="en-US" sz="3399">
                <a:solidFill>
                  <a:srgbClr val="000000"/>
                </a:solidFill>
                <a:latin typeface="Canva Sans"/>
                <a:ea typeface="Canva Sans"/>
                <a:cs typeface="Canva Sans"/>
                <a:sym typeface="Canva Sans"/>
              </a:rPr>
              <a:t> user experience by providing more reliable provider recommendations.</a:t>
            </a:r>
          </a:p>
        </p:txBody>
      </p:sp>
      <p:sp>
        <p:nvSpPr>
          <p:cNvPr name="TextBox 6" id="6"/>
          <p:cNvSpPr txBox="true"/>
          <p:nvPr/>
        </p:nvSpPr>
        <p:spPr>
          <a:xfrm rot="0">
            <a:off x="1028700" y="3905185"/>
            <a:ext cx="16230600" cy="11804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Reduces</a:t>
            </a:r>
            <a:r>
              <a:rPr lang="en-US" sz="3399">
                <a:solidFill>
                  <a:srgbClr val="000000"/>
                </a:solidFill>
                <a:latin typeface="Canva Sans"/>
                <a:ea typeface="Canva Sans"/>
                <a:cs typeface="Canva Sans"/>
                <a:sym typeface="Canva Sans"/>
              </a:rPr>
              <a:t> the incidence of missed appointments, wasted waiting time, and the cost of rescheduling.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graphicFrame>
        <p:nvGraphicFramePr>
          <p:cNvPr name="Object 3" id="3"/>
          <p:cNvGraphicFramePr/>
          <p:nvPr/>
        </p:nvGraphicFramePr>
        <p:xfrm>
          <a:off x="1028700" y="2241450"/>
          <a:ext cx="5657850" cy="3771900"/>
        </p:xfrm>
        <a:graphic>
          <a:graphicData uri="http://schemas.openxmlformats.org/presentationml/2006/ole">
            <p:oleObj imgW="6781800" imgH="4902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4" id="4"/>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7</a:t>
            </a:r>
          </a:p>
        </p:txBody>
      </p:sp>
      <p:sp>
        <p:nvSpPr>
          <p:cNvPr name="TextBox 5" id="5"/>
          <p:cNvSpPr txBox="true"/>
          <p:nvPr/>
        </p:nvSpPr>
        <p:spPr>
          <a:xfrm rot="0">
            <a:off x="1028700" y="1021150"/>
            <a:ext cx="7012247"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RELATED APPLICATIONS</a:t>
            </a: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3899759" y="8695111"/>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8</a:t>
            </a:r>
          </a:p>
        </p:txBody>
      </p:sp>
      <p:sp>
        <p:nvSpPr>
          <p:cNvPr name="TextBox 4" id="4"/>
          <p:cNvSpPr txBox="true"/>
          <p:nvPr/>
        </p:nvSpPr>
        <p:spPr>
          <a:xfrm rot="0">
            <a:off x="1028700" y="1021150"/>
            <a:ext cx="7012247"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RESEARCH GAP</a:t>
            </a:r>
          </a:p>
        </p:txBody>
      </p:sp>
      <p:sp>
        <p:nvSpPr>
          <p:cNvPr name="TextBox 5" id="5"/>
          <p:cNvSpPr txBox="true"/>
          <p:nvPr/>
        </p:nvSpPr>
        <p:spPr>
          <a:xfrm rot="0">
            <a:off x="1028700" y="1905732"/>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CURRENT SYSTEMS : </a:t>
            </a:r>
          </a:p>
        </p:txBody>
      </p:sp>
      <p:sp>
        <p:nvSpPr>
          <p:cNvPr name="TextBox 6" id="6"/>
          <p:cNvSpPr txBox="true"/>
          <p:nvPr/>
        </p:nvSpPr>
        <p:spPr>
          <a:xfrm rot="0">
            <a:off x="1028700" y="2577271"/>
            <a:ext cx="13765113" cy="1596391"/>
          </a:xfrm>
          <a:prstGeom prst="rect">
            <a:avLst/>
          </a:prstGeom>
        </p:spPr>
        <p:txBody>
          <a:bodyPr anchor="t" rtlCol="false" tIns="0" lIns="0" bIns="0" rIns="0">
            <a:spAutoFit/>
          </a:bodyPr>
          <a:lstStyle/>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rely mainly on proximity, availability, and ratings;</a:t>
            </a:r>
          </a:p>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fail to account for traffic congestion, road quality, or time-of-day travel patterns;</a:t>
            </a:r>
          </a:p>
          <a:p>
            <a:pPr algn="l" marL="582927" indent="-291463" lvl="1">
              <a:lnSpc>
                <a:spcPts val="4319"/>
              </a:lnSpc>
              <a:buFont typeface="Arial"/>
              <a:buChar char="•"/>
            </a:pPr>
            <a:r>
              <a:rPr lang="en-US" sz="2699">
                <a:solidFill>
                  <a:srgbClr val="000000"/>
                </a:solidFill>
                <a:latin typeface="Open Sauce"/>
                <a:ea typeface="Open Sauce"/>
                <a:cs typeface="Open Sauce"/>
                <a:sym typeface="Open Sauce"/>
              </a:rPr>
              <a:t>fail to predict provider arrival reliability.</a:t>
            </a:r>
          </a:p>
        </p:txBody>
      </p:sp>
      <p:sp>
        <p:nvSpPr>
          <p:cNvPr name="TextBox 7" id="7"/>
          <p:cNvSpPr txBox="true"/>
          <p:nvPr/>
        </p:nvSpPr>
        <p:spPr>
          <a:xfrm rot="0">
            <a:off x="1028700" y="4535612"/>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LIMITATIONS :</a:t>
            </a:r>
          </a:p>
        </p:txBody>
      </p:sp>
      <p:sp>
        <p:nvSpPr>
          <p:cNvPr name="TextBox 8" id="8"/>
          <p:cNvSpPr txBox="true"/>
          <p:nvPr/>
        </p:nvSpPr>
        <p:spPr>
          <a:xfrm rot="0">
            <a:off x="1028700" y="5179626"/>
            <a:ext cx="16230600" cy="1596391"/>
          </a:xfrm>
          <a:prstGeom prst="rect">
            <a:avLst/>
          </a:prstGeom>
        </p:spPr>
        <p:txBody>
          <a:bodyPr anchor="t" rtlCol="false" tIns="0" lIns="0" bIns="0" rIns="0">
            <a:spAutoFit/>
          </a:bodyPr>
          <a:lstStyle/>
          <a:p>
            <a:pPr algn="l">
              <a:lnSpc>
                <a:spcPts val="4319"/>
              </a:lnSpc>
            </a:pPr>
            <a:r>
              <a:rPr lang="en-US" sz="2699">
                <a:solidFill>
                  <a:srgbClr val="000000"/>
                </a:solidFill>
                <a:latin typeface="Open Sauce"/>
                <a:ea typeface="Open Sauce"/>
                <a:cs typeface="Open Sauce"/>
                <a:sym typeface="Open Sauce"/>
              </a:rPr>
              <a:t>Curr</a:t>
            </a:r>
            <a:r>
              <a:rPr lang="en-US" sz="2699">
                <a:solidFill>
                  <a:srgbClr val="000000"/>
                </a:solidFill>
                <a:latin typeface="Open Sauce"/>
                <a:ea typeface="Open Sauce"/>
                <a:cs typeface="Open Sauce"/>
                <a:sym typeface="Open Sauce"/>
              </a:rPr>
              <a:t>ent Kenyan service-matching platforms lack a context-aware recommendation model that integrates : Traffic congestion, Time-of-day travel patterns, historical provider performance to predict provider arrival reliability.</a:t>
            </a:r>
          </a:p>
        </p:txBody>
      </p:sp>
      <p:sp>
        <p:nvSpPr>
          <p:cNvPr name="TextBox 9" id="9"/>
          <p:cNvSpPr txBox="true"/>
          <p:nvPr/>
        </p:nvSpPr>
        <p:spPr>
          <a:xfrm rot="0">
            <a:off x="1028700" y="7109392"/>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PROPOSED SOLUTION:</a:t>
            </a:r>
          </a:p>
        </p:txBody>
      </p:sp>
      <p:sp>
        <p:nvSpPr>
          <p:cNvPr name="TextBox 10" id="10"/>
          <p:cNvSpPr txBox="true"/>
          <p:nvPr/>
        </p:nvSpPr>
        <p:spPr>
          <a:xfrm rot="0">
            <a:off x="1028700" y="7661909"/>
            <a:ext cx="16230600" cy="1596391"/>
          </a:xfrm>
          <a:prstGeom prst="rect">
            <a:avLst/>
          </a:prstGeom>
        </p:spPr>
        <p:txBody>
          <a:bodyPr anchor="t" rtlCol="false" tIns="0" lIns="0" bIns="0" rIns="0">
            <a:spAutoFit/>
          </a:bodyPr>
          <a:lstStyle/>
          <a:p>
            <a:pPr algn="l">
              <a:lnSpc>
                <a:spcPts val="4319"/>
              </a:lnSpc>
            </a:pPr>
            <a:r>
              <a:rPr lang="en-US" sz="2699">
                <a:solidFill>
                  <a:srgbClr val="000000"/>
                </a:solidFill>
                <a:latin typeface="Open Sauce"/>
                <a:ea typeface="Open Sauce"/>
                <a:cs typeface="Open Sauce"/>
                <a:sym typeface="Open Sauce"/>
              </a:rPr>
              <a:t>D</a:t>
            </a:r>
            <a:r>
              <a:rPr lang="en-US" sz="2699">
                <a:solidFill>
                  <a:srgbClr val="000000"/>
                </a:solidFill>
                <a:latin typeface="Open Sauce"/>
                <a:ea typeface="Open Sauce"/>
                <a:cs typeface="Open Sauce"/>
                <a:sym typeface="Open Sauce"/>
              </a:rPr>
              <a:t>evelop a context-aware recommendation system that uses ensemble learning to integrate traffic conditions, time-of-day patterns, and historical provider performance in order to predict provider arrival reliability and generate more dependable service provider recommendations.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87962" y="389115"/>
            <a:ext cx="0" cy="639585"/>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687962" y="1028700"/>
            <a:ext cx="14891568" cy="9295647"/>
          </a:xfrm>
          <a:custGeom>
            <a:avLst/>
            <a:gdLst/>
            <a:ahLst/>
            <a:cxnLst/>
            <a:rect r="r" b="b" t="t" l="l"/>
            <a:pathLst>
              <a:path h="9295647" w="14891568">
                <a:moveTo>
                  <a:pt x="0" y="0"/>
                </a:moveTo>
                <a:lnTo>
                  <a:pt x="14891568" y="0"/>
                </a:lnTo>
                <a:lnTo>
                  <a:pt x="14891568" y="9295647"/>
                </a:lnTo>
                <a:lnTo>
                  <a:pt x="0" y="9295647"/>
                </a:lnTo>
                <a:lnTo>
                  <a:pt x="0" y="0"/>
                </a:lnTo>
                <a:close/>
              </a:path>
            </a:pathLst>
          </a:custGeom>
          <a:blipFill>
            <a:blip r:embed="rId2"/>
            <a:stretch>
              <a:fillRect l="-9950" t="-8581" r="-10605" b="-53"/>
            </a:stretch>
          </a:blipFill>
        </p:spPr>
      </p:sp>
      <p:sp>
        <p:nvSpPr>
          <p:cNvPr name="TextBox 4" id="4"/>
          <p:cNvSpPr txBox="true"/>
          <p:nvPr/>
        </p:nvSpPr>
        <p:spPr>
          <a:xfrm rot="0">
            <a:off x="13899759" y="8744892"/>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9</a:t>
            </a:r>
          </a:p>
        </p:txBody>
      </p:sp>
      <p:sp>
        <p:nvSpPr>
          <p:cNvPr name="TextBox 5" id="5"/>
          <p:cNvSpPr txBox="true"/>
          <p:nvPr/>
        </p:nvSpPr>
        <p:spPr>
          <a:xfrm rot="0">
            <a:off x="1051793" y="381565"/>
            <a:ext cx="7728136"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CONCEPTUAL FRAMEWORK</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3899759" y="8744892"/>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10</a:t>
            </a:r>
          </a:p>
        </p:txBody>
      </p:sp>
      <p:sp>
        <p:nvSpPr>
          <p:cNvPr name="AutoShape 3" id="3"/>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4" id="4"/>
          <p:cNvSpPr txBox="true"/>
          <p:nvPr/>
        </p:nvSpPr>
        <p:spPr>
          <a:xfrm rot="0">
            <a:off x="1028700" y="1021150"/>
            <a:ext cx="11398516"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TECHNICAL IMPLEMENTATION STRATEGY</a:t>
            </a:r>
          </a:p>
        </p:txBody>
      </p:sp>
      <p:sp>
        <p:nvSpPr>
          <p:cNvPr name="TextBox 5" id="5"/>
          <p:cNvSpPr txBox="true"/>
          <p:nvPr/>
        </p:nvSpPr>
        <p:spPr>
          <a:xfrm rot="0">
            <a:off x="955539" y="1931315"/>
            <a:ext cx="5165457" cy="8078242"/>
          </a:xfrm>
          <a:prstGeom prst="rect">
            <a:avLst/>
          </a:prstGeom>
        </p:spPr>
        <p:txBody>
          <a:bodyPr anchor="t" rtlCol="false" tIns="0" lIns="0" bIns="0" rIns="0">
            <a:spAutoFit/>
          </a:bodyPr>
          <a:lstStyle/>
          <a:p>
            <a:pPr algn="just">
              <a:lnSpc>
                <a:spcPts val="5367"/>
              </a:lnSpc>
              <a:spcBef>
                <a:spcPct val="0"/>
              </a:spcBef>
            </a:pPr>
            <a:r>
              <a:rPr lang="en-US" b="true" sz="3354">
                <a:solidFill>
                  <a:srgbClr val="000000"/>
                </a:solidFill>
                <a:latin typeface="Open Sauce Bold"/>
                <a:ea typeface="Open Sauce Bold"/>
                <a:cs typeface="Open Sauce Bold"/>
                <a:sym typeface="Open Sauce Bold"/>
              </a:rPr>
              <a:t>Data Collection</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        ↓</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Data Preprocessing</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        ↓</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Feature Engineering</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        ↓</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 Model Training</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        ↓</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System Integration</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        ↓</a:t>
            </a:r>
          </a:p>
          <a:p>
            <a:pPr algn="just">
              <a:lnSpc>
                <a:spcPts val="5367"/>
              </a:lnSpc>
              <a:spcBef>
                <a:spcPct val="0"/>
              </a:spcBef>
            </a:pPr>
            <a:r>
              <a:rPr lang="en-US" b="true" sz="3354">
                <a:solidFill>
                  <a:srgbClr val="000000"/>
                </a:solidFill>
                <a:latin typeface="Open Sauce Bold"/>
                <a:ea typeface="Open Sauce Bold"/>
                <a:cs typeface="Open Sauce Bold"/>
                <a:sym typeface="Open Sauce Bold"/>
              </a:rPr>
              <a:t>Recommendation Output</a:t>
            </a:r>
          </a:p>
        </p:txBody>
      </p:sp>
      <p:sp>
        <p:nvSpPr>
          <p:cNvPr name="TextBox 6" id="6"/>
          <p:cNvSpPr txBox="true"/>
          <p:nvPr/>
        </p:nvSpPr>
        <p:spPr>
          <a:xfrm rot="0">
            <a:off x="6271382" y="1950365"/>
            <a:ext cx="11219415" cy="1162051"/>
          </a:xfrm>
          <a:prstGeom prst="rect">
            <a:avLst/>
          </a:prstGeom>
        </p:spPr>
        <p:txBody>
          <a:bodyPr anchor="t" rtlCol="false" tIns="0" lIns="0" bIns="0" rIns="0">
            <a:spAutoFit/>
          </a:bodyPr>
          <a:lstStyle/>
          <a:p>
            <a:pPr algn="just">
              <a:lnSpc>
                <a:spcPts val="4799"/>
              </a:lnSpc>
              <a:spcBef>
                <a:spcPct val="0"/>
              </a:spcBef>
            </a:pPr>
            <a:r>
              <a:rPr lang="en-US" sz="2999">
                <a:solidFill>
                  <a:srgbClr val="000000"/>
                </a:solidFill>
                <a:latin typeface="Open Sauce"/>
                <a:ea typeface="Open Sauce"/>
                <a:cs typeface="Open Sauce"/>
                <a:sym typeface="Open Sauce"/>
              </a:rPr>
              <a:t>Synthetic Nair</a:t>
            </a:r>
            <a:r>
              <a:rPr lang="en-US" sz="2999">
                <a:solidFill>
                  <a:srgbClr val="000000"/>
                </a:solidFill>
                <a:latin typeface="Open Sauce"/>
                <a:ea typeface="Open Sauce"/>
                <a:cs typeface="Open Sauce"/>
                <a:sym typeface="Open Sauce"/>
              </a:rPr>
              <a:t>obi dataset using traffic, road quality, and provider data.</a:t>
            </a:r>
          </a:p>
        </p:txBody>
      </p:sp>
      <p:sp>
        <p:nvSpPr>
          <p:cNvPr name="TextBox 7" id="7"/>
          <p:cNvSpPr txBox="true"/>
          <p:nvPr/>
        </p:nvSpPr>
        <p:spPr>
          <a:xfrm rot="0">
            <a:off x="6271382" y="3394191"/>
            <a:ext cx="11186049" cy="1162051"/>
          </a:xfrm>
          <a:prstGeom prst="rect">
            <a:avLst/>
          </a:prstGeom>
        </p:spPr>
        <p:txBody>
          <a:bodyPr anchor="t" rtlCol="false" tIns="0" lIns="0" bIns="0" rIns="0">
            <a:spAutoFit/>
          </a:bodyPr>
          <a:lstStyle/>
          <a:p>
            <a:pPr algn="just">
              <a:lnSpc>
                <a:spcPts val="4799"/>
              </a:lnSpc>
              <a:spcBef>
                <a:spcPct val="0"/>
              </a:spcBef>
            </a:pPr>
            <a:r>
              <a:rPr lang="en-US" sz="2999">
                <a:solidFill>
                  <a:srgbClr val="000000"/>
                </a:solidFill>
                <a:latin typeface="Open Sauce"/>
                <a:ea typeface="Open Sauce"/>
                <a:cs typeface="Open Sauce"/>
                <a:sym typeface="Open Sauce"/>
              </a:rPr>
              <a:t>Clean, encode, normalize, and split data (80/20).</a:t>
            </a:r>
          </a:p>
          <a:p>
            <a:pPr algn="just">
              <a:lnSpc>
                <a:spcPts val="4799"/>
              </a:lnSpc>
              <a:spcBef>
                <a:spcPct val="0"/>
              </a:spcBef>
            </a:pPr>
          </a:p>
        </p:txBody>
      </p:sp>
      <p:sp>
        <p:nvSpPr>
          <p:cNvPr name="TextBox 8" id="8"/>
          <p:cNvSpPr txBox="true"/>
          <p:nvPr/>
        </p:nvSpPr>
        <p:spPr>
          <a:xfrm rot="0">
            <a:off x="6271382" y="4594413"/>
            <a:ext cx="11186049" cy="1162051"/>
          </a:xfrm>
          <a:prstGeom prst="rect">
            <a:avLst/>
          </a:prstGeom>
        </p:spPr>
        <p:txBody>
          <a:bodyPr anchor="t" rtlCol="false" tIns="0" lIns="0" bIns="0" rIns="0">
            <a:spAutoFit/>
          </a:bodyPr>
          <a:lstStyle/>
          <a:p>
            <a:pPr algn="just">
              <a:lnSpc>
                <a:spcPts val="4799"/>
              </a:lnSpc>
              <a:spcBef>
                <a:spcPct val="0"/>
              </a:spcBef>
            </a:pPr>
            <a:r>
              <a:rPr lang="en-US" sz="2999">
                <a:solidFill>
                  <a:srgbClr val="000000"/>
                </a:solidFill>
                <a:latin typeface="Open Sauce"/>
                <a:ea typeface="Open Sauce"/>
                <a:cs typeface="Open Sauce"/>
                <a:sym typeface="Open Sauce"/>
              </a:rPr>
              <a:t>G</a:t>
            </a:r>
            <a:r>
              <a:rPr lang="en-US" sz="2999">
                <a:solidFill>
                  <a:srgbClr val="000000"/>
                </a:solidFill>
                <a:latin typeface="Open Sauce"/>
                <a:ea typeface="Open Sauce"/>
                <a:cs typeface="Open Sauce"/>
                <a:sym typeface="Open Sauce"/>
              </a:rPr>
              <a:t>enerate travel time, congestion, road quality, provider performance features.</a:t>
            </a:r>
          </a:p>
        </p:txBody>
      </p:sp>
      <p:sp>
        <p:nvSpPr>
          <p:cNvPr name="TextBox 9" id="9"/>
          <p:cNvSpPr txBox="true"/>
          <p:nvPr/>
        </p:nvSpPr>
        <p:spPr>
          <a:xfrm rot="0">
            <a:off x="6271382" y="6042214"/>
            <a:ext cx="11186049" cy="1162051"/>
          </a:xfrm>
          <a:prstGeom prst="rect">
            <a:avLst/>
          </a:prstGeom>
        </p:spPr>
        <p:txBody>
          <a:bodyPr anchor="t" rtlCol="false" tIns="0" lIns="0" bIns="0" rIns="0">
            <a:spAutoFit/>
          </a:bodyPr>
          <a:lstStyle/>
          <a:p>
            <a:pPr algn="just">
              <a:lnSpc>
                <a:spcPts val="4799"/>
              </a:lnSpc>
              <a:spcBef>
                <a:spcPct val="0"/>
              </a:spcBef>
            </a:pPr>
            <a:r>
              <a:rPr lang="en-US" sz="2999">
                <a:solidFill>
                  <a:srgbClr val="000000"/>
                </a:solidFill>
                <a:latin typeface="Open Sauce"/>
                <a:ea typeface="Open Sauce"/>
                <a:cs typeface="Open Sauce"/>
                <a:sym typeface="Open Sauce"/>
              </a:rPr>
              <a:t>T</a:t>
            </a:r>
            <a:r>
              <a:rPr lang="en-US" sz="2999">
                <a:solidFill>
                  <a:srgbClr val="000000"/>
                </a:solidFill>
                <a:latin typeface="Open Sauce"/>
                <a:ea typeface="Open Sauce"/>
                <a:cs typeface="Open Sauce"/>
                <a:sym typeface="Open Sauce"/>
              </a:rPr>
              <a:t>rain and validate using RMSE, MAE, and 5-fold cross-validation.</a:t>
            </a:r>
          </a:p>
        </p:txBody>
      </p:sp>
      <p:sp>
        <p:nvSpPr>
          <p:cNvPr name="TextBox 10" id="10"/>
          <p:cNvSpPr txBox="true"/>
          <p:nvPr/>
        </p:nvSpPr>
        <p:spPr>
          <a:xfrm rot="0">
            <a:off x="6271382" y="7242365"/>
            <a:ext cx="11186049" cy="561976"/>
          </a:xfrm>
          <a:prstGeom prst="rect">
            <a:avLst/>
          </a:prstGeom>
        </p:spPr>
        <p:txBody>
          <a:bodyPr anchor="t" rtlCol="false" tIns="0" lIns="0" bIns="0" rIns="0">
            <a:spAutoFit/>
          </a:bodyPr>
          <a:lstStyle/>
          <a:p>
            <a:pPr algn="just">
              <a:lnSpc>
                <a:spcPts val="4799"/>
              </a:lnSpc>
              <a:spcBef>
                <a:spcPct val="0"/>
              </a:spcBef>
            </a:pPr>
            <a:r>
              <a:rPr lang="en-US" sz="2999">
                <a:solidFill>
                  <a:srgbClr val="000000"/>
                </a:solidFill>
                <a:latin typeface="Open Sauce"/>
                <a:ea typeface="Open Sauce"/>
                <a:cs typeface="Open Sauce"/>
                <a:sym typeface="Open Sauce"/>
              </a:rPr>
              <a:t>F</a:t>
            </a:r>
            <a:r>
              <a:rPr lang="en-US" sz="2999">
                <a:solidFill>
                  <a:srgbClr val="000000"/>
                </a:solidFill>
                <a:latin typeface="Open Sauce"/>
                <a:ea typeface="Open Sauce"/>
                <a:cs typeface="Open Sauce"/>
                <a:sym typeface="Open Sauce"/>
              </a:rPr>
              <a:t>astAPI + PostgreSQL backend with Next.js frontend.</a:t>
            </a:r>
          </a:p>
        </p:txBody>
      </p:sp>
      <p:sp>
        <p:nvSpPr>
          <p:cNvPr name="TextBox 11" id="11"/>
          <p:cNvSpPr txBox="true"/>
          <p:nvPr/>
        </p:nvSpPr>
        <p:spPr>
          <a:xfrm rot="0">
            <a:off x="6120996" y="8504862"/>
            <a:ext cx="11186049" cy="1162051"/>
          </a:xfrm>
          <a:prstGeom prst="rect">
            <a:avLst/>
          </a:prstGeom>
        </p:spPr>
        <p:txBody>
          <a:bodyPr anchor="t" rtlCol="false" tIns="0" lIns="0" bIns="0" rIns="0">
            <a:spAutoFit/>
          </a:bodyPr>
          <a:lstStyle/>
          <a:p>
            <a:pPr algn="just">
              <a:lnSpc>
                <a:spcPts val="4799"/>
              </a:lnSpc>
              <a:spcBef>
                <a:spcPct val="0"/>
              </a:spcBef>
            </a:pPr>
            <a:r>
              <a:rPr lang="en-US" sz="2999">
                <a:solidFill>
                  <a:srgbClr val="000000"/>
                </a:solidFill>
                <a:latin typeface="Open Sauce"/>
                <a:ea typeface="Open Sauce"/>
                <a:cs typeface="Open Sauce"/>
                <a:sym typeface="Open Sauce"/>
              </a:rPr>
              <a:t>R</a:t>
            </a:r>
            <a:r>
              <a:rPr lang="en-US" sz="2999">
                <a:solidFill>
                  <a:srgbClr val="000000"/>
                </a:solidFill>
                <a:latin typeface="Open Sauce"/>
                <a:ea typeface="Open Sauce"/>
                <a:cs typeface="Open Sauce"/>
                <a:sym typeface="Open Sauce"/>
              </a:rPr>
              <a:t>anked providers, reliability score, ETA, and booking confirmation.</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028700" y="1021150"/>
            <a:ext cx="11398516"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METHODOLOGY</a:t>
            </a:r>
          </a:p>
        </p:txBody>
      </p:sp>
      <p:sp>
        <p:nvSpPr>
          <p:cNvPr name="TextBox 4" id="4"/>
          <p:cNvSpPr txBox="true"/>
          <p:nvPr/>
        </p:nvSpPr>
        <p:spPr>
          <a:xfrm rot="0">
            <a:off x="728938" y="2790824"/>
            <a:ext cx="16530362" cy="2139316"/>
          </a:xfrm>
          <a:prstGeom prst="rect">
            <a:avLst/>
          </a:prstGeom>
        </p:spPr>
        <p:txBody>
          <a:bodyPr anchor="t" rtlCol="false" tIns="0" lIns="0" bIns="0" rIns="0">
            <a:spAutoFit/>
          </a:bodyPr>
          <a:lstStyle/>
          <a:p>
            <a:pPr algn="just">
              <a:lnSpc>
                <a:spcPts val="4319"/>
              </a:lnSpc>
              <a:spcBef>
                <a:spcPct val="0"/>
              </a:spcBef>
            </a:pPr>
            <a:r>
              <a:rPr lang="en-US" b="true" sz="2699">
                <a:solidFill>
                  <a:srgbClr val="12100E"/>
                </a:solidFill>
                <a:latin typeface="Open Sauce Bold"/>
                <a:ea typeface="Open Sauce Bold"/>
                <a:cs typeface="Open Sauce Bold"/>
                <a:sym typeface="Open Sauce Bold"/>
              </a:rPr>
              <a:t>CRISP-DM Framework:</a:t>
            </a:r>
            <a:r>
              <a:rPr lang="en-US" sz="2699">
                <a:solidFill>
                  <a:srgbClr val="12100E"/>
                </a:solidFill>
                <a:latin typeface="Open Sauce"/>
                <a:ea typeface="Open Sauce"/>
                <a:cs typeface="Open Sauce"/>
                <a:sym typeface="Open Sauce"/>
              </a:rPr>
              <a:t> Utilized to govern the experimental design of the machine learning pipeline. </a:t>
            </a:r>
          </a:p>
          <a:p>
            <a:pPr algn="just">
              <a:lnSpc>
                <a:spcPts val="4319"/>
              </a:lnSpc>
              <a:spcBef>
                <a:spcPct val="0"/>
              </a:spcBef>
            </a:pPr>
          </a:p>
          <a:p>
            <a:pPr algn="just">
              <a:lnSpc>
                <a:spcPts val="4319"/>
              </a:lnSpc>
              <a:spcBef>
                <a:spcPct val="0"/>
              </a:spcBef>
            </a:pPr>
            <a:r>
              <a:rPr lang="en-US" b="true" sz="2699">
                <a:solidFill>
                  <a:srgbClr val="12100E"/>
                </a:solidFill>
                <a:latin typeface="Open Sauce Bold"/>
                <a:ea typeface="Open Sauce Bold"/>
                <a:cs typeface="Open Sauce Bold"/>
                <a:sym typeface="Open Sauce Bold"/>
              </a:rPr>
              <a:t>Agile Iterative Prototyping (Scrum):</a:t>
            </a:r>
            <a:r>
              <a:rPr lang="en-US" sz="2699">
                <a:solidFill>
                  <a:srgbClr val="12100E"/>
                </a:solidFill>
                <a:latin typeface="Open Sauce"/>
                <a:ea typeface="Open Sauce"/>
                <a:cs typeface="Open Sauce"/>
                <a:sym typeface="Open Sauce"/>
              </a:rPr>
              <a:t> Utilized to build the web-based Interactive Decision Support System (IDSS) frontend and API layers.</a:t>
            </a:r>
          </a:p>
        </p:txBody>
      </p:sp>
      <p:sp>
        <p:nvSpPr>
          <p:cNvPr name="TextBox 5" id="5"/>
          <p:cNvSpPr txBox="true"/>
          <p:nvPr/>
        </p:nvSpPr>
        <p:spPr>
          <a:xfrm rot="0">
            <a:off x="728938" y="2160126"/>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THE SELECTED FRAMEWORKS : </a:t>
            </a:r>
          </a:p>
        </p:txBody>
      </p:sp>
      <p:sp>
        <p:nvSpPr>
          <p:cNvPr name="TextBox 6" id="6"/>
          <p:cNvSpPr txBox="true"/>
          <p:nvPr/>
        </p:nvSpPr>
        <p:spPr>
          <a:xfrm rot="0">
            <a:off x="664869" y="5425440"/>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WHY THIS FRAMEWORKS : </a:t>
            </a:r>
          </a:p>
        </p:txBody>
      </p:sp>
      <p:sp>
        <p:nvSpPr>
          <p:cNvPr name="TextBox 7" id="7"/>
          <p:cNvSpPr txBox="true"/>
          <p:nvPr/>
        </p:nvSpPr>
        <p:spPr>
          <a:xfrm rot="0">
            <a:off x="664869" y="6055360"/>
            <a:ext cx="16594431" cy="2682241"/>
          </a:xfrm>
          <a:prstGeom prst="rect">
            <a:avLst/>
          </a:prstGeom>
        </p:spPr>
        <p:txBody>
          <a:bodyPr anchor="t" rtlCol="false" tIns="0" lIns="0" bIns="0" rIns="0">
            <a:spAutoFit/>
          </a:bodyPr>
          <a:lstStyle/>
          <a:p>
            <a:pPr algn="just">
              <a:lnSpc>
                <a:spcPts val="4319"/>
              </a:lnSpc>
              <a:spcBef>
                <a:spcPct val="0"/>
              </a:spcBef>
            </a:pPr>
            <a:r>
              <a:rPr lang="en-US" b="true" sz="2699">
                <a:solidFill>
                  <a:srgbClr val="12100E"/>
                </a:solidFill>
                <a:latin typeface="Open Sauce Bold"/>
                <a:ea typeface="Open Sauce Bold"/>
                <a:cs typeface="Open Sauce Bold"/>
                <a:sym typeface="Open Sauce Bold"/>
              </a:rPr>
              <a:t>CRISP-DM (ML Alignment):</a:t>
            </a:r>
            <a:r>
              <a:rPr lang="en-US" sz="2699">
                <a:solidFill>
                  <a:srgbClr val="12100E"/>
                </a:solidFill>
                <a:latin typeface="Open Sauce"/>
                <a:ea typeface="Open Sauce"/>
                <a:cs typeface="Open Sauce"/>
                <a:sym typeface="Open Sauce"/>
              </a:rPr>
              <a:t> Provides a structured approach for data preprocessing, feature engineering, and training the XGBoost model to compare its arrival reliability scores against traditional distance-only and rating-only baselines. </a:t>
            </a:r>
          </a:p>
          <a:p>
            <a:pPr algn="just">
              <a:lnSpc>
                <a:spcPts val="4319"/>
              </a:lnSpc>
              <a:spcBef>
                <a:spcPct val="0"/>
              </a:spcBef>
            </a:pPr>
            <a:r>
              <a:rPr lang="en-US" b="true" sz="2699">
                <a:solidFill>
                  <a:srgbClr val="12100E"/>
                </a:solidFill>
                <a:latin typeface="Open Sauce Bold"/>
                <a:ea typeface="Open Sauce Bold"/>
                <a:cs typeface="Open Sauce Bold"/>
                <a:sym typeface="Open Sauce Bold"/>
              </a:rPr>
              <a:t>Agile Prototyping (Flexibility): </a:t>
            </a:r>
            <a:r>
              <a:rPr lang="en-US" sz="2699">
                <a:solidFill>
                  <a:srgbClr val="12100E"/>
                </a:solidFill>
                <a:latin typeface="Open Sauce"/>
                <a:ea typeface="Open Sauce"/>
                <a:cs typeface="Open Sauce"/>
                <a:sym typeface="Open Sauce"/>
              </a:rPr>
              <a:t>Be</a:t>
            </a:r>
            <a:r>
              <a:rPr lang="en-US" sz="2699">
                <a:solidFill>
                  <a:srgbClr val="12100E"/>
                </a:solidFill>
                <a:latin typeface="Open Sauce"/>
                <a:ea typeface="Open Sauce"/>
                <a:cs typeface="Open Sauce"/>
                <a:sym typeface="Open Sauce"/>
              </a:rPr>
              <a:t>cause the user interface behavior, ranking displays require repeated evaluation cycles and user feedback rather than rigid, upfront specifications. </a:t>
            </a:r>
          </a:p>
        </p:txBody>
      </p:sp>
      <p:sp>
        <p:nvSpPr>
          <p:cNvPr name="TextBox 8" id="8"/>
          <p:cNvSpPr txBox="true"/>
          <p:nvPr/>
        </p:nvSpPr>
        <p:spPr>
          <a:xfrm rot="0">
            <a:off x="13899759" y="8744892"/>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11</a:t>
            </a: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028700" y="1021150"/>
            <a:ext cx="11398516"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EVALUATION METRICS</a:t>
            </a:r>
          </a:p>
        </p:txBody>
      </p:sp>
      <p:sp>
        <p:nvSpPr>
          <p:cNvPr name="TextBox 4" id="4"/>
          <p:cNvSpPr txBox="true"/>
          <p:nvPr/>
        </p:nvSpPr>
        <p:spPr>
          <a:xfrm rot="0">
            <a:off x="664869" y="2563195"/>
            <a:ext cx="16594431" cy="2139316"/>
          </a:xfrm>
          <a:prstGeom prst="rect">
            <a:avLst/>
          </a:prstGeom>
        </p:spPr>
        <p:txBody>
          <a:bodyPr anchor="t" rtlCol="false" tIns="0" lIns="0" bIns="0" rIns="0">
            <a:spAutoFit/>
          </a:bodyPr>
          <a:lstStyle/>
          <a:p>
            <a:pPr algn="just" marL="582927" indent="-291463" lvl="1">
              <a:lnSpc>
                <a:spcPts val="4319"/>
              </a:lnSpc>
              <a:spcBef>
                <a:spcPct val="0"/>
              </a:spcBef>
              <a:buFont typeface="Arial"/>
              <a:buChar char="•"/>
            </a:pPr>
            <a:r>
              <a:rPr lang="en-US" sz="2699">
                <a:solidFill>
                  <a:srgbClr val="12100E"/>
                </a:solidFill>
                <a:latin typeface="Open Sauce"/>
                <a:ea typeface="Open Sauce"/>
                <a:cs typeface="Open Sauce"/>
                <a:sym typeface="Open Sauce"/>
              </a:rPr>
              <a:t>RMSE</a:t>
            </a:r>
          </a:p>
          <a:p>
            <a:pPr algn="just" marL="582927" indent="-291463" lvl="1">
              <a:lnSpc>
                <a:spcPts val="4319"/>
              </a:lnSpc>
              <a:spcBef>
                <a:spcPct val="0"/>
              </a:spcBef>
              <a:buFont typeface="Arial"/>
              <a:buChar char="•"/>
            </a:pPr>
            <a:r>
              <a:rPr lang="en-US" sz="2699">
                <a:solidFill>
                  <a:srgbClr val="12100E"/>
                </a:solidFill>
                <a:latin typeface="Open Sauce"/>
                <a:ea typeface="Open Sauce"/>
                <a:cs typeface="Open Sauce"/>
                <a:sym typeface="Open Sauce"/>
              </a:rPr>
              <a:t>MAE</a:t>
            </a:r>
          </a:p>
          <a:p>
            <a:pPr algn="just" marL="582927" indent="-291463" lvl="1">
              <a:lnSpc>
                <a:spcPts val="4319"/>
              </a:lnSpc>
              <a:spcBef>
                <a:spcPct val="0"/>
              </a:spcBef>
              <a:buFont typeface="Arial"/>
              <a:buChar char="•"/>
            </a:pPr>
            <a:r>
              <a:rPr lang="en-US" sz="2699">
                <a:solidFill>
                  <a:srgbClr val="12100E"/>
                </a:solidFill>
                <a:latin typeface="Open Sauce"/>
                <a:ea typeface="Open Sauce"/>
                <a:cs typeface="Open Sauce"/>
                <a:sym typeface="Open Sauce"/>
              </a:rPr>
              <a:t>5-Fold Cross Validation</a:t>
            </a:r>
          </a:p>
          <a:p>
            <a:pPr algn="just" marL="582927" indent="-291463" lvl="1">
              <a:lnSpc>
                <a:spcPts val="4319"/>
              </a:lnSpc>
              <a:buFont typeface="Arial"/>
              <a:buChar char="•"/>
            </a:pPr>
            <a:r>
              <a:rPr lang="en-US" sz="2699">
                <a:solidFill>
                  <a:srgbClr val="12100E"/>
                </a:solidFill>
                <a:latin typeface="Open Sauce"/>
                <a:ea typeface="Open Sauce"/>
                <a:cs typeface="Open Sauce"/>
                <a:sym typeface="Open Sauce"/>
              </a:rPr>
              <a:t>Baseline Comparison (</a:t>
            </a:r>
            <a:r>
              <a:rPr lang="en-US" sz="2699">
                <a:solidFill>
                  <a:srgbClr val="12100E"/>
                </a:solidFill>
                <a:latin typeface="Open Sauce"/>
                <a:ea typeface="Open Sauce"/>
                <a:cs typeface="Open Sauce"/>
                <a:sym typeface="Open Sauce"/>
              </a:rPr>
              <a:t>Distance vs Rating vs XGBoost)</a:t>
            </a:r>
          </a:p>
        </p:txBody>
      </p:sp>
      <p:sp>
        <p:nvSpPr>
          <p:cNvPr name="TextBox 5" id="5"/>
          <p:cNvSpPr txBox="true"/>
          <p:nvPr/>
        </p:nvSpPr>
        <p:spPr>
          <a:xfrm rot="0">
            <a:off x="1028700" y="2021557"/>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MACHINE LEARNING EVALUATION</a:t>
            </a:r>
          </a:p>
        </p:txBody>
      </p:sp>
      <p:sp>
        <p:nvSpPr>
          <p:cNvPr name="TextBox 6" id="6"/>
          <p:cNvSpPr txBox="true"/>
          <p:nvPr/>
        </p:nvSpPr>
        <p:spPr>
          <a:xfrm rot="0">
            <a:off x="1028700" y="4938077"/>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SYSTEM EVALUATION</a:t>
            </a:r>
          </a:p>
        </p:txBody>
      </p:sp>
      <p:sp>
        <p:nvSpPr>
          <p:cNvPr name="TextBox 7" id="7"/>
          <p:cNvSpPr txBox="true"/>
          <p:nvPr/>
        </p:nvSpPr>
        <p:spPr>
          <a:xfrm rot="0">
            <a:off x="664869" y="5358448"/>
            <a:ext cx="16594431" cy="1596391"/>
          </a:xfrm>
          <a:prstGeom prst="rect">
            <a:avLst/>
          </a:prstGeom>
        </p:spPr>
        <p:txBody>
          <a:bodyPr anchor="t" rtlCol="false" tIns="0" lIns="0" bIns="0" rIns="0">
            <a:spAutoFit/>
          </a:bodyPr>
          <a:lstStyle/>
          <a:p>
            <a:pPr algn="just" marL="582927" indent="-291463" lvl="1">
              <a:lnSpc>
                <a:spcPts val="4319"/>
              </a:lnSpc>
              <a:spcBef>
                <a:spcPct val="0"/>
              </a:spcBef>
              <a:buFont typeface="Arial"/>
              <a:buChar char="•"/>
            </a:pPr>
            <a:r>
              <a:rPr lang="en-US" sz="2699">
                <a:solidFill>
                  <a:srgbClr val="12100E"/>
                </a:solidFill>
                <a:latin typeface="Open Sauce"/>
                <a:ea typeface="Open Sauce"/>
                <a:cs typeface="Open Sauce"/>
                <a:sym typeface="Open Sauce"/>
              </a:rPr>
              <a:t>Unit</a:t>
            </a:r>
            <a:r>
              <a:rPr lang="en-US" sz="2699">
                <a:solidFill>
                  <a:srgbClr val="12100E"/>
                </a:solidFill>
                <a:latin typeface="Open Sauce"/>
                <a:ea typeface="Open Sauce"/>
                <a:cs typeface="Open Sauce"/>
                <a:sym typeface="Open Sauce"/>
              </a:rPr>
              <a:t> Testing</a:t>
            </a:r>
          </a:p>
          <a:p>
            <a:pPr algn="just" marL="582927" indent="-291463" lvl="1">
              <a:lnSpc>
                <a:spcPts val="4319"/>
              </a:lnSpc>
              <a:buFont typeface="Arial"/>
              <a:buChar char="•"/>
            </a:pPr>
            <a:r>
              <a:rPr lang="en-US" sz="2699">
                <a:solidFill>
                  <a:srgbClr val="12100E"/>
                </a:solidFill>
                <a:latin typeface="Open Sauce"/>
                <a:ea typeface="Open Sauce"/>
                <a:cs typeface="Open Sauce"/>
                <a:sym typeface="Open Sauce"/>
              </a:rPr>
              <a:t>I</a:t>
            </a:r>
            <a:r>
              <a:rPr lang="en-US" sz="2699">
                <a:solidFill>
                  <a:srgbClr val="12100E"/>
                </a:solidFill>
                <a:latin typeface="Open Sauce"/>
                <a:ea typeface="Open Sauce"/>
                <a:cs typeface="Open Sauce"/>
                <a:sym typeface="Open Sauce"/>
              </a:rPr>
              <a:t>ntegration Te</a:t>
            </a:r>
            <a:r>
              <a:rPr lang="en-US" sz="2699">
                <a:solidFill>
                  <a:srgbClr val="12100E"/>
                </a:solidFill>
                <a:latin typeface="Open Sauce"/>
                <a:ea typeface="Open Sauce"/>
                <a:cs typeface="Open Sauce"/>
                <a:sym typeface="Open Sauce"/>
              </a:rPr>
              <a:t>sting</a:t>
            </a:r>
          </a:p>
          <a:p>
            <a:pPr algn="just" marL="582927" indent="-291463" lvl="1">
              <a:lnSpc>
                <a:spcPts val="4319"/>
              </a:lnSpc>
              <a:buFont typeface="Arial"/>
              <a:buChar char="•"/>
            </a:pPr>
            <a:r>
              <a:rPr lang="en-US" sz="2699">
                <a:solidFill>
                  <a:srgbClr val="12100E"/>
                </a:solidFill>
                <a:latin typeface="Open Sauce"/>
                <a:ea typeface="Open Sauce"/>
                <a:cs typeface="Open Sauce"/>
                <a:sym typeface="Open Sauce"/>
              </a:rPr>
              <a:t>Functional Testing</a:t>
            </a:r>
          </a:p>
        </p:txBody>
      </p:sp>
      <p:sp>
        <p:nvSpPr>
          <p:cNvPr name="TextBox 8" id="8"/>
          <p:cNvSpPr txBox="true"/>
          <p:nvPr/>
        </p:nvSpPr>
        <p:spPr>
          <a:xfrm rot="0">
            <a:off x="1028700" y="7069138"/>
            <a:ext cx="10034500" cy="372745"/>
          </a:xfrm>
          <a:prstGeom prst="rect">
            <a:avLst/>
          </a:prstGeom>
        </p:spPr>
        <p:txBody>
          <a:bodyPr anchor="t" rtlCol="false" tIns="0" lIns="0" bIns="0" rIns="0">
            <a:spAutoFit/>
          </a:bodyPr>
          <a:lstStyle/>
          <a:p>
            <a:pPr algn="l">
              <a:lnSpc>
                <a:spcPts val="3079"/>
              </a:lnSpc>
            </a:pPr>
            <a:r>
              <a:rPr lang="en-US" b="true" sz="2199" spc="219" u="sng">
                <a:solidFill>
                  <a:srgbClr val="12100E"/>
                </a:solidFill>
                <a:latin typeface="Open Sauce Bold"/>
                <a:ea typeface="Open Sauce Bold"/>
                <a:cs typeface="Open Sauce Bold"/>
                <a:sym typeface="Open Sauce Bold"/>
              </a:rPr>
              <a:t>VALIDATION</a:t>
            </a:r>
          </a:p>
        </p:txBody>
      </p:sp>
      <p:sp>
        <p:nvSpPr>
          <p:cNvPr name="TextBox 9" id="9"/>
          <p:cNvSpPr txBox="true"/>
          <p:nvPr/>
        </p:nvSpPr>
        <p:spPr>
          <a:xfrm rot="0">
            <a:off x="664869" y="7557130"/>
            <a:ext cx="16594431" cy="1053466"/>
          </a:xfrm>
          <a:prstGeom prst="rect">
            <a:avLst/>
          </a:prstGeom>
        </p:spPr>
        <p:txBody>
          <a:bodyPr anchor="t" rtlCol="false" tIns="0" lIns="0" bIns="0" rIns="0">
            <a:spAutoFit/>
          </a:bodyPr>
          <a:lstStyle/>
          <a:p>
            <a:pPr algn="just" marL="582927" indent="-291463" lvl="1">
              <a:lnSpc>
                <a:spcPts val="4319"/>
              </a:lnSpc>
              <a:spcBef>
                <a:spcPct val="0"/>
              </a:spcBef>
              <a:buFont typeface="Arial"/>
              <a:buChar char="•"/>
            </a:pPr>
            <a:r>
              <a:rPr lang="en-US" sz="2699">
                <a:solidFill>
                  <a:srgbClr val="12100E"/>
                </a:solidFill>
                <a:latin typeface="Open Sauce"/>
                <a:ea typeface="Open Sauce"/>
                <a:cs typeface="Open Sauce"/>
                <a:sym typeface="Open Sauce"/>
              </a:rPr>
              <a:t>80/20 Train-</a:t>
            </a:r>
            <a:r>
              <a:rPr lang="en-US" sz="2699">
                <a:solidFill>
                  <a:srgbClr val="12100E"/>
                </a:solidFill>
                <a:latin typeface="Open Sauce"/>
                <a:ea typeface="Open Sauce"/>
                <a:cs typeface="Open Sauce"/>
                <a:sym typeface="Open Sauce"/>
              </a:rPr>
              <a:t>Test Split</a:t>
            </a:r>
          </a:p>
          <a:p>
            <a:pPr algn="just" marL="582927" indent="-291463" lvl="1">
              <a:lnSpc>
                <a:spcPts val="4319"/>
              </a:lnSpc>
              <a:buFont typeface="Arial"/>
              <a:buChar char="•"/>
            </a:pPr>
            <a:r>
              <a:rPr lang="en-US" sz="2699">
                <a:solidFill>
                  <a:srgbClr val="12100E"/>
                </a:solidFill>
                <a:latin typeface="Open Sauce"/>
                <a:ea typeface="Open Sauce"/>
                <a:cs typeface="Open Sauce"/>
                <a:sym typeface="Open Sauce"/>
              </a:rPr>
              <a:t>U</a:t>
            </a:r>
            <a:r>
              <a:rPr lang="en-US" sz="2699">
                <a:solidFill>
                  <a:srgbClr val="12100E"/>
                </a:solidFill>
                <a:latin typeface="Open Sauce"/>
                <a:ea typeface="Open Sauce"/>
                <a:cs typeface="Open Sauce"/>
                <a:sym typeface="Open Sauce"/>
              </a:rPr>
              <a:t>nseen Te</a:t>
            </a:r>
            <a:r>
              <a:rPr lang="en-US" sz="2699">
                <a:solidFill>
                  <a:srgbClr val="12100E"/>
                </a:solidFill>
                <a:latin typeface="Open Sauce"/>
                <a:ea typeface="Open Sauce"/>
                <a:cs typeface="Open Sauce"/>
                <a:sym typeface="Open Sauce"/>
              </a:rPr>
              <a:t>st Set (No Data Leakage)</a:t>
            </a:r>
          </a:p>
        </p:txBody>
      </p:sp>
      <p:sp>
        <p:nvSpPr>
          <p:cNvPr name="TextBox 10" id="10"/>
          <p:cNvSpPr txBox="true"/>
          <p:nvPr/>
        </p:nvSpPr>
        <p:spPr>
          <a:xfrm rot="0">
            <a:off x="13899759" y="8744892"/>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12</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FFFFFF">
                <a:alpha val="100000"/>
              </a:srgbClr>
            </a:gs>
            <a:gs pos="100000">
              <a:srgbClr val="FEFAE5">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664869" y="1028700"/>
            <a:ext cx="0" cy="639585"/>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1028700" y="1021150"/>
            <a:ext cx="11398516" cy="613410"/>
          </a:xfrm>
          <a:prstGeom prst="rect">
            <a:avLst/>
          </a:prstGeom>
        </p:spPr>
        <p:txBody>
          <a:bodyPr anchor="t" rtlCol="false" tIns="0" lIns="0" bIns="0" rIns="0">
            <a:spAutoFit/>
          </a:bodyPr>
          <a:lstStyle/>
          <a:p>
            <a:pPr algn="l" marL="0" indent="0" lvl="0">
              <a:lnSpc>
                <a:spcPts val="5040"/>
              </a:lnSpc>
              <a:spcBef>
                <a:spcPct val="0"/>
              </a:spcBef>
            </a:pPr>
            <a:r>
              <a:rPr lang="en-US" b="true" sz="3600" spc="359">
                <a:solidFill>
                  <a:srgbClr val="12100E"/>
                </a:solidFill>
                <a:latin typeface="Open Sauce Bold"/>
                <a:ea typeface="Open Sauce Bold"/>
                <a:cs typeface="Open Sauce Bold"/>
                <a:sym typeface="Open Sauce Bold"/>
              </a:rPr>
              <a:t>EVALUATION METRICS</a:t>
            </a:r>
          </a:p>
        </p:txBody>
      </p:sp>
      <p:sp>
        <p:nvSpPr>
          <p:cNvPr name="TextBox 4" id="4"/>
          <p:cNvSpPr txBox="true"/>
          <p:nvPr/>
        </p:nvSpPr>
        <p:spPr>
          <a:xfrm rot="0">
            <a:off x="13899759" y="8744892"/>
            <a:ext cx="3359541" cy="398145"/>
          </a:xfrm>
          <a:prstGeom prst="rect">
            <a:avLst/>
          </a:prstGeom>
        </p:spPr>
        <p:txBody>
          <a:bodyPr anchor="t" rtlCol="false" tIns="0" lIns="0" bIns="0" rIns="0">
            <a:spAutoFit/>
          </a:bodyPr>
          <a:lstStyle/>
          <a:p>
            <a:pPr algn="r">
              <a:lnSpc>
                <a:spcPts val="3360"/>
              </a:lnSpc>
            </a:pPr>
            <a:r>
              <a:rPr lang="en-US" sz="2100">
                <a:solidFill>
                  <a:srgbClr val="FE8213"/>
                </a:solidFill>
                <a:latin typeface="Open Sauce"/>
                <a:ea typeface="Open Sauce"/>
                <a:cs typeface="Open Sauce"/>
                <a:sym typeface="Open Sauce"/>
              </a:rPr>
              <a:t>13</a:t>
            </a:r>
          </a:p>
        </p:txBody>
      </p:sp>
      <p:sp>
        <p:nvSpPr>
          <p:cNvPr name="TextBox 5" id="5"/>
          <p:cNvSpPr txBox="true"/>
          <p:nvPr/>
        </p:nvSpPr>
        <p:spPr>
          <a:xfrm rot="0">
            <a:off x="664869" y="2637623"/>
            <a:ext cx="16807081" cy="534035"/>
          </a:xfrm>
          <a:prstGeom prst="rect">
            <a:avLst/>
          </a:prstGeom>
        </p:spPr>
        <p:txBody>
          <a:bodyPr anchor="t" rtlCol="false" tIns="0" lIns="0" bIns="0" rIns="0">
            <a:spAutoFit/>
          </a:bodyPr>
          <a:lstStyle/>
          <a:p>
            <a:pPr algn="just">
              <a:lnSpc>
                <a:spcPts val="4479"/>
              </a:lnSpc>
              <a:spcBef>
                <a:spcPct val="0"/>
              </a:spcBef>
            </a:pPr>
            <a:r>
              <a:rPr lang="en-US" b="true" sz="2799">
                <a:solidFill>
                  <a:srgbClr val="000000"/>
                </a:solidFill>
                <a:latin typeface="Open Sauce Bold"/>
                <a:ea typeface="Open Sauce Bold"/>
                <a:cs typeface="Open Sauce Bold"/>
                <a:sym typeface="Open Sauce Bold"/>
              </a:rPr>
              <a:t>SYSTEM - </a:t>
            </a:r>
            <a:r>
              <a:rPr lang="en-US" sz="2799">
                <a:solidFill>
                  <a:srgbClr val="000000"/>
                </a:solidFill>
                <a:latin typeface="Open Sauce"/>
                <a:ea typeface="Open Sauce"/>
                <a:cs typeface="Open Sauce"/>
                <a:sym typeface="Open Sauce"/>
              </a:rPr>
              <a:t>A web-based context-aware recommendation system for household service providers.</a:t>
            </a:r>
          </a:p>
        </p:txBody>
      </p:sp>
      <p:sp>
        <p:nvSpPr>
          <p:cNvPr name="TextBox 6" id="6"/>
          <p:cNvSpPr txBox="true"/>
          <p:nvPr/>
        </p:nvSpPr>
        <p:spPr>
          <a:xfrm rot="0">
            <a:off x="664869" y="3409783"/>
            <a:ext cx="16807081" cy="1096010"/>
          </a:xfrm>
          <a:prstGeom prst="rect">
            <a:avLst/>
          </a:prstGeom>
        </p:spPr>
        <p:txBody>
          <a:bodyPr anchor="t" rtlCol="false" tIns="0" lIns="0" bIns="0" rIns="0">
            <a:spAutoFit/>
          </a:bodyPr>
          <a:lstStyle/>
          <a:p>
            <a:pPr algn="just">
              <a:lnSpc>
                <a:spcPts val="4479"/>
              </a:lnSpc>
              <a:spcBef>
                <a:spcPct val="0"/>
              </a:spcBef>
            </a:pPr>
            <a:r>
              <a:rPr lang="en-US" b="true" sz="2799">
                <a:solidFill>
                  <a:srgbClr val="000000"/>
                </a:solidFill>
                <a:latin typeface="Open Sauce Bold"/>
                <a:ea typeface="Open Sauce Bold"/>
                <a:cs typeface="Open Sauce Bold"/>
                <a:sym typeface="Open Sauce Bold"/>
              </a:rPr>
              <a:t>DELIVERABLES - </a:t>
            </a:r>
            <a:r>
              <a:rPr lang="en-US" sz="2799">
                <a:solidFill>
                  <a:srgbClr val="000000"/>
                </a:solidFill>
                <a:latin typeface="Open Sauce"/>
                <a:ea typeface="Open Sauce"/>
                <a:cs typeface="Open Sauce"/>
                <a:sym typeface="Open Sauce"/>
              </a:rPr>
              <a:t>XGBoost Recommendation Engine, Provider Ranking &amp; Booking Module, Explainable Recommendations</a:t>
            </a:r>
          </a:p>
        </p:txBody>
      </p:sp>
      <p:sp>
        <p:nvSpPr>
          <p:cNvPr name="TextBox 7" id="7"/>
          <p:cNvSpPr txBox="true"/>
          <p:nvPr/>
        </p:nvSpPr>
        <p:spPr>
          <a:xfrm rot="0">
            <a:off x="664869" y="4810740"/>
            <a:ext cx="16807081" cy="1096010"/>
          </a:xfrm>
          <a:prstGeom prst="rect">
            <a:avLst/>
          </a:prstGeom>
        </p:spPr>
        <p:txBody>
          <a:bodyPr anchor="t" rtlCol="false" tIns="0" lIns="0" bIns="0" rIns="0">
            <a:spAutoFit/>
          </a:bodyPr>
          <a:lstStyle/>
          <a:p>
            <a:pPr algn="just">
              <a:lnSpc>
                <a:spcPts val="4479"/>
              </a:lnSpc>
              <a:spcBef>
                <a:spcPct val="0"/>
              </a:spcBef>
            </a:pPr>
            <a:r>
              <a:rPr lang="en-US" b="true" sz="2799">
                <a:solidFill>
                  <a:srgbClr val="000000"/>
                </a:solidFill>
                <a:latin typeface="Open Sauce Bold"/>
                <a:ea typeface="Open Sauce Bold"/>
                <a:cs typeface="Open Sauce Bold"/>
                <a:sym typeface="Open Sauce Bold"/>
              </a:rPr>
              <a:t>CONTRIBUTIONS - </a:t>
            </a:r>
            <a:r>
              <a:rPr lang="en-US" sz="2799">
                <a:solidFill>
                  <a:srgbClr val="000000"/>
                </a:solidFill>
                <a:latin typeface="Open Sauce"/>
                <a:ea typeface="Open Sauce"/>
                <a:cs typeface="Open Sauce"/>
                <a:sym typeface="Open Sauce"/>
              </a:rPr>
              <a:t>Bridges the gap by integrating contextual traffic factors into household service recommendations.</a:t>
            </a:r>
          </a:p>
        </p:txBody>
      </p:sp>
      <p:sp>
        <p:nvSpPr>
          <p:cNvPr name="TextBox 8" id="8"/>
          <p:cNvSpPr txBox="true"/>
          <p:nvPr/>
        </p:nvSpPr>
        <p:spPr>
          <a:xfrm rot="0">
            <a:off x="664869" y="6144875"/>
            <a:ext cx="16807081" cy="534035"/>
          </a:xfrm>
          <a:prstGeom prst="rect">
            <a:avLst/>
          </a:prstGeom>
        </p:spPr>
        <p:txBody>
          <a:bodyPr anchor="t" rtlCol="false" tIns="0" lIns="0" bIns="0" rIns="0">
            <a:spAutoFit/>
          </a:bodyPr>
          <a:lstStyle/>
          <a:p>
            <a:pPr algn="just">
              <a:lnSpc>
                <a:spcPts val="4479"/>
              </a:lnSpc>
              <a:spcBef>
                <a:spcPct val="0"/>
              </a:spcBef>
            </a:pPr>
            <a:r>
              <a:rPr lang="en-US" b="true" sz="2799">
                <a:solidFill>
                  <a:srgbClr val="000000"/>
                </a:solidFill>
                <a:latin typeface="Open Sauce Bold"/>
                <a:ea typeface="Open Sauce Bold"/>
                <a:cs typeface="Open Sauce Bold"/>
                <a:sym typeface="Open Sauce Bold"/>
              </a:rPr>
              <a:t>USERS - </a:t>
            </a:r>
            <a:r>
              <a:rPr lang="en-US" sz="2799">
                <a:solidFill>
                  <a:srgbClr val="000000"/>
                </a:solidFill>
                <a:latin typeface="Open Sauce"/>
                <a:ea typeface="Open Sauce"/>
                <a:cs typeface="Open Sauce"/>
                <a:sym typeface="Open Sauce"/>
              </a:rPr>
              <a:t>Designed for household clients, service providers, and platform administrators.</a:t>
            </a:r>
          </a:p>
        </p:txBody>
      </p:sp>
      <p:sp>
        <p:nvSpPr>
          <p:cNvPr name="TextBox 9" id="9"/>
          <p:cNvSpPr txBox="true"/>
          <p:nvPr/>
        </p:nvSpPr>
        <p:spPr>
          <a:xfrm rot="0">
            <a:off x="664869" y="6917035"/>
            <a:ext cx="16807081" cy="534035"/>
          </a:xfrm>
          <a:prstGeom prst="rect">
            <a:avLst/>
          </a:prstGeom>
        </p:spPr>
        <p:txBody>
          <a:bodyPr anchor="t" rtlCol="false" tIns="0" lIns="0" bIns="0" rIns="0">
            <a:spAutoFit/>
          </a:bodyPr>
          <a:lstStyle/>
          <a:p>
            <a:pPr algn="just">
              <a:lnSpc>
                <a:spcPts val="4479"/>
              </a:lnSpc>
              <a:spcBef>
                <a:spcPct val="0"/>
              </a:spcBef>
            </a:pPr>
            <a:r>
              <a:rPr lang="en-US" b="true" sz="2799">
                <a:solidFill>
                  <a:srgbClr val="000000"/>
                </a:solidFill>
                <a:latin typeface="Open Sauce Bold"/>
                <a:ea typeface="Open Sauce Bold"/>
                <a:cs typeface="Open Sauce Bold"/>
                <a:sym typeface="Open Sauce Bold"/>
              </a:rPr>
              <a:t>IMPACT - </a:t>
            </a:r>
            <a:r>
              <a:rPr lang="en-US" sz="2799">
                <a:solidFill>
                  <a:srgbClr val="000000"/>
                </a:solidFill>
                <a:latin typeface="Open Sauce"/>
                <a:ea typeface="Open Sauce"/>
                <a:cs typeface="Open Sauce"/>
                <a:sym typeface="Open Sauce"/>
              </a:rPr>
              <a:t>Improves recommendation reliability, user trust, and service delivery efficiency.</a:t>
            </a:r>
          </a:p>
        </p:txBody>
      </p:sp>
      <p:sp>
        <p:nvSpPr>
          <p:cNvPr name="TextBox 10" id="10"/>
          <p:cNvSpPr txBox="true"/>
          <p:nvPr/>
        </p:nvSpPr>
        <p:spPr>
          <a:xfrm rot="0">
            <a:off x="664869" y="7689195"/>
            <a:ext cx="16807081" cy="534035"/>
          </a:xfrm>
          <a:prstGeom prst="rect">
            <a:avLst/>
          </a:prstGeom>
        </p:spPr>
        <p:txBody>
          <a:bodyPr anchor="t" rtlCol="false" tIns="0" lIns="0" bIns="0" rIns="0">
            <a:spAutoFit/>
          </a:bodyPr>
          <a:lstStyle/>
          <a:p>
            <a:pPr algn="just">
              <a:lnSpc>
                <a:spcPts val="4479"/>
              </a:lnSpc>
              <a:spcBef>
                <a:spcPct val="0"/>
              </a:spcBef>
            </a:pPr>
            <a:r>
              <a:rPr lang="en-US" b="true" sz="2799">
                <a:solidFill>
                  <a:srgbClr val="000000"/>
                </a:solidFill>
                <a:latin typeface="Open Sauce Bold"/>
                <a:ea typeface="Open Sauce Bold"/>
                <a:cs typeface="Open Sauce Bold"/>
                <a:sym typeface="Open Sauce Bold"/>
              </a:rPr>
              <a:t>SCOPE - </a:t>
            </a:r>
            <a:r>
              <a:rPr lang="en-US" sz="2799">
                <a:solidFill>
                  <a:srgbClr val="000000"/>
                </a:solidFill>
                <a:latin typeface="Open Sauce"/>
                <a:ea typeface="Open Sauce"/>
                <a:cs typeface="Open Sauce"/>
                <a:sym typeface="Open Sauce"/>
              </a:rPr>
              <a:t>Limited to household services within Nairobi as a web-based decision support system.</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DF4"/>
        </a:solidFill>
      </p:bgPr>
    </p:bg>
    <p:spTree>
      <p:nvGrpSpPr>
        <p:cNvPr id="1" name=""/>
        <p:cNvGrpSpPr/>
        <p:nvPr/>
      </p:nvGrpSpPr>
      <p:grpSpPr>
        <a:xfrm>
          <a:off x="0" y="0"/>
          <a:ext cx="0" cy="0"/>
          <a:chOff x="0" y="0"/>
          <a:chExt cx="0" cy="0"/>
        </a:xfrm>
      </p:grpSpPr>
      <p:sp>
        <p:nvSpPr>
          <p:cNvPr name="TextBox 2" id="2"/>
          <p:cNvSpPr txBox="true"/>
          <p:nvPr/>
        </p:nvSpPr>
        <p:spPr>
          <a:xfrm rot="0">
            <a:off x="6651724" y="3252290"/>
            <a:ext cx="10607576" cy="2066925"/>
          </a:xfrm>
          <a:prstGeom prst="rect">
            <a:avLst/>
          </a:prstGeom>
        </p:spPr>
        <p:txBody>
          <a:bodyPr anchor="t" rtlCol="false" tIns="0" lIns="0" bIns="0" rIns="0">
            <a:spAutoFit/>
          </a:bodyPr>
          <a:lstStyle/>
          <a:p>
            <a:pPr algn="r">
              <a:lnSpc>
                <a:spcPts val="16800"/>
              </a:lnSpc>
            </a:pPr>
            <a:r>
              <a:rPr lang="en-US" b="true" sz="12000" spc="-480">
                <a:solidFill>
                  <a:srgbClr val="12100E"/>
                </a:solidFill>
                <a:latin typeface="Open Sauce Heavy"/>
                <a:ea typeface="Open Sauce Heavy"/>
                <a:cs typeface="Open Sauce Heavy"/>
                <a:sym typeface="Open Sauce Heavy"/>
              </a:rPr>
              <a:t>THANK YOU</a:t>
            </a:r>
          </a:p>
        </p:txBody>
      </p:sp>
      <p:sp>
        <p:nvSpPr>
          <p:cNvPr name="TextBox 3" id="3"/>
          <p:cNvSpPr txBox="true"/>
          <p:nvPr/>
        </p:nvSpPr>
        <p:spPr>
          <a:xfrm rot="0">
            <a:off x="7224800" y="5301643"/>
            <a:ext cx="10034500" cy="555352"/>
          </a:xfrm>
          <a:prstGeom prst="rect">
            <a:avLst/>
          </a:prstGeom>
        </p:spPr>
        <p:txBody>
          <a:bodyPr anchor="t" rtlCol="false" tIns="0" lIns="0" bIns="0" rIns="0">
            <a:spAutoFit/>
          </a:bodyPr>
          <a:lstStyle/>
          <a:p>
            <a:pPr algn="r">
              <a:lnSpc>
                <a:spcPts val="4565"/>
              </a:lnSpc>
            </a:pPr>
            <a:r>
              <a:rPr lang="en-US" sz="3260" spc="-65">
                <a:solidFill>
                  <a:srgbClr val="12100E"/>
                </a:solidFill>
                <a:latin typeface="Noto Serif"/>
                <a:ea typeface="Noto Serif"/>
                <a:cs typeface="Noto Serif"/>
                <a:sym typeface="Noto Serif"/>
              </a:rPr>
              <a:t>QUESTIONS ?</a:t>
            </a:r>
          </a:p>
        </p:txBody>
      </p:sp>
      <p:sp>
        <p:nvSpPr>
          <p:cNvPr name="TextBox 4" id="4"/>
          <p:cNvSpPr txBox="true"/>
          <p:nvPr/>
        </p:nvSpPr>
        <p:spPr>
          <a:xfrm rot="0">
            <a:off x="1028700" y="8702948"/>
            <a:ext cx="10034500" cy="555352"/>
          </a:xfrm>
          <a:prstGeom prst="rect">
            <a:avLst/>
          </a:prstGeom>
        </p:spPr>
        <p:txBody>
          <a:bodyPr anchor="t" rtlCol="false" tIns="0" lIns="0" bIns="0" rIns="0">
            <a:spAutoFit/>
          </a:bodyPr>
          <a:lstStyle/>
          <a:p>
            <a:pPr algn="just">
              <a:lnSpc>
                <a:spcPts val="4565"/>
              </a:lnSpc>
            </a:pPr>
            <a:r>
              <a:rPr lang="en-US" sz="3260" spc="-65">
                <a:solidFill>
                  <a:srgbClr val="12100E"/>
                </a:solidFill>
                <a:latin typeface="Noto Serif"/>
                <a:ea typeface="Noto Serif"/>
                <a:cs typeface="Noto Serif"/>
                <a:sym typeface="Noto Serif"/>
              </a:rPr>
              <a:t>164003 | Mbithi Keith Austine | ICS4E</a:t>
            </a:r>
          </a:p>
        </p:txBody>
      </p:sp>
      <p:sp>
        <p:nvSpPr>
          <p:cNvPr name="AutoShape 5" id="5"/>
          <p:cNvSpPr/>
          <p:nvPr/>
        </p:nvSpPr>
        <p:spPr>
          <a:xfrm>
            <a:off x="1028700" y="8712473"/>
            <a:ext cx="7156503" cy="0"/>
          </a:xfrm>
          <a:prstGeom prst="line">
            <a:avLst/>
          </a:prstGeom>
          <a:ln cap="flat" w="114300">
            <a:solidFill>
              <a:srgbClr val="FE8213"/>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DAHPQtEJIic</dc:identifier>
  <dcterms:modified xsi:type="dcterms:W3CDTF">2011-08-01T06:04:30Z</dcterms:modified>
  <cp:revision>1</cp:revision>
  <dc:title>White Cream Orange Minimalist Gradient Professional Pitch Deck Presentation</dc:title>
</cp:coreProperties>
</file>